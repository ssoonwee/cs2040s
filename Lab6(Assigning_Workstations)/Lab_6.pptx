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y="5143500" cx="9144000"/>
  <p:notesSz cx="6858000" cy="9144000"/>
  <p:embeddedFontLst>
    <p:embeddedFont>
      <p:font typeface="Raleway"/>
      <p:regular r:id="rId58"/>
      <p:bold r:id="rId59"/>
      <p:italic r:id="rId60"/>
      <p:boldItalic r:id="rId61"/>
    </p:embeddedFont>
    <p:embeddedFont>
      <p:font typeface="La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08E674-A337-4617-BD22-070F3EBD77CE}">
  <a:tblStyle styleId="{B908E674-A337-4617-BD22-070F3EBD77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Lato-regular.fntdata"/><Relationship Id="rId61" Type="http://schemas.openxmlformats.org/officeDocument/2006/relationships/font" Target="fonts/Raleway-boldItalic.fntdata"/><Relationship Id="rId20" Type="http://schemas.openxmlformats.org/officeDocument/2006/relationships/slide" Target="slides/slide13.xml"/><Relationship Id="rId64" Type="http://schemas.openxmlformats.org/officeDocument/2006/relationships/font" Target="fonts/Lato-italic.fntdata"/><Relationship Id="rId63" Type="http://schemas.openxmlformats.org/officeDocument/2006/relationships/font" Target="fonts/Lato-bold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65" Type="http://schemas.openxmlformats.org/officeDocument/2006/relationships/font" Target="fonts/Lato-bold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aleway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font" Target="fonts/Raleway-bold.fntdata"/><Relationship Id="rId14" Type="http://schemas.openxmlformats.org/officeDocument/2006/relationships/slide" Target="slides/slide7.xml"/><Relationship Id="rId58" Type="http://schemas.openxmlformats.org/officeDocument/2006/relationships/font" Target="fonts/Raleway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0111d53d1_4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0111d53d1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0111d53d1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0111d53d1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0111d53d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0111d53d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a0111d53d1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a0111d53d1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a0111d53d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a0111d53d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a0111d53d1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a0111d53d1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a0111d53d1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a0111d53d1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a0111d53d1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a0111d53d1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a0111d53d1_2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a0111d53d1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0111d53d1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a0111d53d1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a0111d53d1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a0111d53d1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a0111d53d1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a0111d53d1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a0111d53d1_2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a0111d53d1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0111d53d1_2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0111d53d1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a0111d53d1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a0111d53d1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a0111d53d1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a0111d53d1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a0111d53d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a0111d53d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a0111d53d1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a0111d53d1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0111d53d1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0111d53d1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0111d53d1_2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0111d53d1_2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a0111d53d1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a0111d53d1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a0111d53d1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a0111d53d1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8bfb36750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8bfb36750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d8e8cf4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d8e8cf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8d8e8cf4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8d8e8cf4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8c2f0d91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8c2f0d91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bca0db9d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bca0db9d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8d8e8cf4d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8d8e8cf4d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a0111d53d1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a0111d53d1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8d8e8cf4d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8d8e8cf4d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a0111d53d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a0111d53d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a0111d53d1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a0111d53d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a0111d53d1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a0111d53d1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a0111d53d1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a0111d53d1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a0111d53d1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a0111d53d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a0111d53d1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a0111d53d1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a0111d53d1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a0111d53d1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a0111d53d1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a0111d53d1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a0111d53d1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a0111d53d1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a0111d53d1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a0111d53d1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a0111d53d1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a0111d53d1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a0111d53d1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a0111d53d1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a0111d53d1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a0111d53d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8d8e8cf4d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8d8e8cf4d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8d8e8cf4d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8d8e8cf4d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a0111d53d1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a0111d53d1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a0111d53d1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a0111d53d1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a0111d53d1_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a0111d53d1_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adb5d304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adb5d304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9325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3602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2" name="Google Shape;162;p2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9325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2" type="body"/>
          </p:nvPr>
        </p:nvSpPr>
        <p:spPr>
          <a:xfrm>
            <a:off x="4643602" y="1356675"/>
            <a:ext cx="3774300" cy="29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6 - Priority Queue</a:t>
            </a:r>
            <a:endParaRPr/>
          </a:p>
        </p:txBody>
      </p:sp>
      <p:sp>
        <p:nvSpPr>
          <p:cNvPr id="173" name="Google Shape;173;p2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CS2040 Data Structures &amp; Algorithms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AY20/21 Semester 1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Given the course combinations of students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Determine how many students are taking any of the most popular combination of courses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(100, 101, 102, 103, 104) – 4 students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(101, 102, 103, 104, 105) – 2 students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(102, 103, 104, 105, 106) – 4 students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Answer should be 4 + 4 = 8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Both </a:t>
            </a:r>
            <a:r>
              <a:rPr lang="en-GB"/>
              <a:t>1st and 3rd courses are tied for most popular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Read number of students, 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For each of the N students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Read 5 course IDs into a “course combination”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Increment count for this combination by 1, in a </a:t>
            </a:r>
            <a:r>
              <a:rPr b="1" lang="en-GB" sz="1400"/>
              <a:t>frequency table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For </a:t>
            </a:r>
            <a:r>
              <a:rPr lang="en-GB" sz="1400"/>
              <a:t>each </a:t>
            </a:r>
            <a:r>
              <a:rPr lang="en-GB" sz="1400"/>
              <a:t>chosen combination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Check size vs maximum size </a:t>
            </a:r>
            <a:r>
              <a:rPr lang="en-GB" sz="1400"/>
              <a:t>so far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-GB" sz="1400"/>
              <a:t>If needed, increment/reset number of courses with current max size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/>
              <a:t>Print (max size * count)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Keep a frequency table of course combinations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each course combination (key)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Track number of students (value)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want something like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&lt;[</a:t>
            </a:r>
            <a:r>
              <a:rPr i="1"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GB"/>
              <a:t>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ODA4 - Conformity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to represent a course combination?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Need to check equality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Need to produce hashCode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Should represent a </a:t>
            </a:r>
            <a:r>
              <a:rPr b="1" i="1" lang="en-GB"/>
              <a:t>set</a:t>
            </a:r>
            <a:r>
              <a:rPr lang="en-GB"/>
              <a:t> of courses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Course is either present/absent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Don’t care about duplicates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Order of courses should not matter in comparison</a:t>
            </a:r>
            <a:endParaRPr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We have to “erase” any input ordering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Sorted Array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729450" y="15852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Solution 1: Use a sorted array (of course IDs)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Easy to check if two combinations are have same courses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Check if underlying sorted arrays are equal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.equals(</a:t>
            </a:r>
            <a:r>
              <a:rPr lang="en-GB">
                <a:solidFill>
                  <a:srgbClr val="9900FF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.array, other.array)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Easy to produce a hash code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■"/>
            </a:pP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.hashCode(</a:t>
            </a:r>
            <a:r>
              <a:rPr lang="en-GB">
                <a:solidFill>
                  <a:srgbClr val="9900FF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.array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-GB"/>
              <a:t>Downside: int[] does not provide correct equals/hashCode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Have to write custom class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Sorted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lass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[] array;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ublic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hashCode()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eturn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.hashCode(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.array);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ublic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equals(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o)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eturn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o 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instanceof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endParaRPr sz="14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	&amp;&amp;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.equals(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.array, ((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) o).array);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Sorted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[] array;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hashCode()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.hashCode(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.array);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equals(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o)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hashCode() == o.hashCode()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3435050" y="3564450"/>
            <a:ext cx="35937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BAD: Hash codes may collide!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Equal hashes does not mean equal value!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ArrayList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Solution 1a - Use sorted ArrayList!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ArrayList implements equals/hashCode as list equality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Still have to sort contents, to canonicalize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No need for our own wrapper class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ArrayList</a:t>
            </a:r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738" y="1266650"/>
            <a:ext cx="801052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375" y="2876375"/>
            <a:ext cx="6279252" cy="20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Sorted Array</a:t>
            </a:r>
            <a:endParaRPr/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729450" y="1585275"/>
            <a:ext cx="7688700" cy="10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Solution 1b: Use a sorted array, then convert to String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String already provides correct equals/hashCode</a:t>
            </a:r>
            <a:endParaRPr/>
          </a:p>
        </p:txBody>
      </p:sp>
      <p:sp>
        <p:nvSpPr>
          <p:cNvPr id="236" name="Google Shape;236;p36"/>
          <p:cNvSpPr txBox="1"/>
          <p:nvPr/>
        </p:nvSpPr>
        <p:spPr>
          <a:xfrm>
            <a:off x="2790450" y="2660175"/>
            <a:ext cx="3616200" cy="1364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[] arr;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Read in combination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.sort(arr);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.toString(arr);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Use in Map&lt;String, Integer&gt;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HashSet</a:t>
            </a:r>
            <a:endParaRPr/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729450" y="14328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Solution 2: Use a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HashSet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GB"/>
              <a:t>, of course IDs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HashSet implements equals/hashCode as set equality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No need to manually sort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Exactly what we need!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000"/>
              <a:t>Caveat: Higher constant factor than previous solutions, due to hashtable lookups vs array equality.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HashSet</a:t>
            </a:r>
            <a:endParaRPr/>
          </a:p>
        </p:txBody>
      </p:sp>
      <p:pic>
        <p:nvPicPr>
          <p:cNvPr id="248" name="Google Shape;2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1417350"/>
            <a:ext cx="81343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263" y="3000800"/>
            <a:ext cx="7489474" cy="194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729450" y="1356675"/>
            <a:ext cx="7688700" cy="3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Advanced solution 3: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Possible to pack into single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-GB"/>
              <a:t> </a:t>
            </a:r>
            <a:r>
              <a:rPr lang="en-GB"/>
              <a:t>value after sorting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 400 possible courses, 5 values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400</a:t>
            </a:r>
            <a:r>
              <a:rPr baseline="30000" lang="en-GB"/>
              <a:t>5</a:t>
            </a:r>
            <a:r>
              <a:rPr lang="en-GB"/>
              <a:t> &lt;= 2</a:t>
            </a:r>
            <a:r>
              <a:rPr baseline="30000" lang="en-GB"/>
              <a:t>63</a:t>
            </a:r>
            <a:r>
              <a:rPr lang="en-GB"/>
              <a:t>-1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TreeSet instead of HashSet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etc.</a:t>
            </a:r>
            <a:endParaRPr/>
          </a:p>
        </p:txBody>
      </p:sp>
      <p:sp>
        <p:nvSpPr>
          <p:cNvPr id="255" name="Google Shape;255;p39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Combination - Other solutions</a:t>
            </a:r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5949550" y="2422575"/>
            <a:ext cx="3027300" cy="1255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i=0;i&lt;5;i++)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k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ey *= 400;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key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courses[i] - 100;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Storing hashCode()</a:t>
            </a:r>
            <a:endParaRPr/>
          </a:p>
        </p:txBody>
      </p:sp>
      <p:sp>
        <p:nvSpPr>
          <p:cNvPr id="262" name="Google Shape;262;p40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hashCode()</a:t>
            </a:r>
            <a:r>
              <a:rPr lang="en-GB"/>
              <a:t> is not guaranteed to be collision free!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we see two </a:t>
            </a:r>
            <a:r>
              <a:rPr b="1" lang="en-GB" u="sng"/>
              <a:t>different</a:t>
            </a:r>
            <a:r>
              <a:rPr lang="en-GB"/>
              <a:t> combinations, but with same hash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We accidentally combine their counts!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Some of your solutions passed the judge, but in general not correct.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Always</a:t>
            </a:r>
            <a:r>
              <a:rPr lang="en-GB"/>
              <a:t> use the full object as the key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HashMap will handle collisions for you, by checking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equals()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5170700" y="377850"/>
            <a:ext cx="2957700" cy="1108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 map;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c =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...;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c.hashCode();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map.put(key, ...);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" name="Google Shape;264;p40"/>
          <p:cNvSpPr/>
          <p:nvPr/>
        </p:nvSpPr>
        <p:spPr>
          <a:xfrm>
            <a:off x="7152250" y="1044150"/>
            <a:ext cx="1196370" cy="5619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 Table</a:t>
            </a:r>
            <a:endParaRPr/>
          </a:p>
        </p:txBody>
      </p:sp>
      <p:sp>
        <p:nvSpPr>
          <p:cNvPr id="270" name="Google Shape;270;p41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have a frequency table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do we increment the count, for a given combination?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Retrieve old count using key: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map.get(key)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Add 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Put new count using key:</a:t>
            </a:r>
            <a:r>
              <a:rPr lang="en-GB"/>
              <a:t>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.put(key, newCount)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41"/>
          <p:cNvSpPr txBox="1"/>
          <p:nvPr/>
        </p:nvSpPr>
        <p:spPr>
          <a:xfrm>
            <a:off x="5071000" y="3163150"/>
            <a:ext cx="26103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41"/>
          <p:cNvSpPr txBox="1"/>
          <p:nvPr/>
        </p:nvSpPr>
        <p:spPr>
          <a:xfrm>
            <a:off x="5320250" y="3144975"/>
            <a:ext cx="3788400" cy="116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What if there is no old count entry for key?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HashMap will return the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value </a:t>
            </a:r>
            <a:r>
              <a:rPr lang="en-GB">
                <a:solidFill>
                  <a:schemeClr val="accent2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!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Will throw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NullPointerException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when casted back to an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, when using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Explicit null Check</a:t>
            </a:r>
            <a:endParaRPr/>
          </a:p>
        </p:txBody>
      </p:sp>
      <p:sp>
        <p:nvSpPr>
          <p:cNvPr id="278" name="Google Shape;278;p42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 map = </a:t>
            </a: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i=0; i&lt;n;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oldCount = map.get(key);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map.put(key, oldCount == </a:t>
            </a:r>
            <a:r>
              <a:rPr lang="en-GB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? 1 : oldCount + 1);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307000" y="2885850"/>
            <a:ext cx="925800" cy="31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Not </a:t>
            </a:r>
            <a:r>
              <a:rPr lang="en-GB">
                <a:solidFill>
                  <a:schemeClr val="accent3"/>
                </a:solidFill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containsKey()</a:t>
            </a:r>
            <a:endParaRPr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 map = </a:t>
            </a: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i=0; i&lt;n;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...;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oldCount = map.containsKey(key)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? map.get(key) :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map.put(key, oldCount + 1);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getOrDefault</a:t>
            </a:r>
            <a:r>
              <a:rPr lang="en-GB"/>
              <a:t>()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&gt; map = </a:t>
            </a: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HashMap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i=0; i&lt;n;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key = ...;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oldCount = map.getOrDefault(key,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map.put(key, oldCount + 1);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" name="Google Shape;292;p44"/>
          <p:cNvSpPr txBox="1"/>
          <p:nvPr/>
        </p:nvSpPr>
        <p:spPr>
          <a:xfrm>
            <a:off x="3504600" y="4417100"/>
            <a:ext cx="4586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getOrDefault(key, fallback)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returns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fallback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if no corresponding entry exists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Maximum</a:t>
            </a:r>
            <a:endParaRPr/>
          </a:p>
        </p:txBody>
      </p:sp>
      <p:sp>
        <p:nvSpPr>
          <p:cNvPr id="298" name="Google Shape;298;p45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Track 2 things: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Maximum course size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Number of courses, with this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Answer is (max size) * (number of courses)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Maximum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each course: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current size &lt; maximum size, skip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current size = maximum size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count +=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current size &gt; maximum size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maximum size = current size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count = 1</a:t>
            </a:r>
            <a:endParaRPr/>
          </a:p>
        </p:txBody>
      </p:sp>
      <p:sp>
        <p:nvSpPr>
          <p:cNvPr id="305" name="Google Shape;305;p46"/>
          <p:cNvSpPr txBox="1"/>
          <p:nvPr>
            <p:ph idx="1" type="body"/>
          </p:nvPr>
        </p:nvSpPr>
        <p:spPr>
          <a:xfrm>
            <a:off x="5167125" y="1356675"/>
            <a:ext cx="3353400" cy="29832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3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Combination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GB" sz="13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&gt; map;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maxSize = 0, count = 0;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GB" sz="13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size : map.values())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(size &gt; maxSize)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		maxSize = size;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	count = 1;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n-GB" sz="13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 (size == maxSize)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	count += 1;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7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Small Notes</a:t>
            </a:r>
            <a:endParaRPr/>
          </a:p>
        </p:txBody>
      </p: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729450" y="1356675"/>
            <a:ext cx="76887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Some submissions came very close to 1s time limit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Possible speedups: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Sorted array/ArrayList faster than HashSet/TreeSet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Fast IO — We are reading 5 × 10</a:t>
            </a:r>
            <a:r>
              <a:rPr baseline="30000" lang="en-GB"/>
              <a:t>4</a:t>
            </a:r>
            <a:r>
              <a:rPr lang="en-GB"/>
              <a:t> integers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Caching return value of </a:t>
            </a:r>
            <a:r>
              <a:rPr lang="en-GB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Arrays.hashCode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Queue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PriorityQueue&lt;E&gt;</a:t>
            </a:r>
            <a:endParaRPr/>
          </a:p>
        </p:txBody>
      </p:sp>
      <p:sp>
        <p:nvSpPr>
          <p:cNvPr id="322" name="Google Shape;322;p4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Uses min-heap as an underlying data structure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 declare a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 sz="1800"/>
              <a:t> </a:t>
            </a:r>
            <a:r>
              <a:rPr lang="en-GB"/>
              <a:t>of</a:t>
            </a:r>
            <a:r>
              <a:rPr lang="en-GB" sz="1800"/>
              <a:t>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Integers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 pq = 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PriorityQueue enforces some ordering on its elements.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Any object stored must either implement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Comparable</a:t>
            </a:r>
            <a:r>
              <a:rPr lang="en-GB"/>
              <a:t>, or the constructor must be given a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Comparator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PriorityQueue&lt;E&gt;</a:t>
            </a:r>
            <a:endParaRPr/>
          </a:p>
        </p:txBody>
      </p:sp>
      <p:sp>
        <p:nvSpPr>
          <p:cNvPr id="328" name="Google Shape;328;p5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 </a:t>
            </a:r>
            <a:r>
              <a:rPr lang="en-GB"/>
              <a:t>set it as a max-heap, use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Comparator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.reverseOrder()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 pq = </a:t>
            </a:r>
            <a:r>
              <a:rPr lang="en-GB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lang="en-GB" sz="1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Comparator</a:t>
            </a: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.reverseOrder());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Combine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Comparator</a:t>
            </a:r>
            <a:r>
              <a:rPr lang="en-GB"/>
              <a:t> if necessary.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PriorityQueue&lt;E&gt; API</a:t>
            </a:r>
            <a:endParaRPr/>
          </a:p>
        </p:txBody>
      </p:sp>
      <p:graphicFrame>
        <p:nvGraphicFramePr>
          <p:cNvPr id="334" name="Google Shape;334;p51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2977950"/>
                <a:gridCol w="4410825"/>
                <a:gridCol w="1181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e)</a:t>
                      </a:r>
                      <a:endParaRPr sz="10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Inserts the specified element into this priority queue.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O(lg N)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clear()</a:t>
                      </a:r>
                      <a:endParaRPr sz="10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all of the elements from this priority queue.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contains(</a:t>
                      </a: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o)</a:t>
                      </a:r>
                      <a:endParaRPr sz="10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queue contains the specified element.</a:t>
                      </a:r>
                      <a:b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b="1"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peek()</a:t>
                      </a:r>
                      <a:endParaRPr sz="10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Retrieves, but does not remove, the head of this queue, or returns null if this queue is empty.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poll()</a:t>
                      </a:r>
                      <a:endParaRPr sz="10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 and removes the head of this queue, or returns null if this queue is empty.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O(lg N)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remove(</a:t>
                      </a: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o)</a:t>
                      </a:r>
                      <a:endParaRPr sz="10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 single instance of the specified element from this queue, if it is present.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GB" sz="10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nt </a:t>
                      </a:r>
                      <a:r>
                        <a:rPr lang="en-GB" sz="10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endParaRPr sz="10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number of elements in this collection.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0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PriorityQueue&lt;E&gt; Dangers!</a:t>
            </a:r>
            <a:endParaRPr/>
          </a:p>
        </p:txBody>
      </p:sp>
      <p:sp>
        <p:nvSpPr>
          <p:cNvPr id="340" name="Google Shape;340;p52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If you modify an element inside a 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/>
              <a:t>, and that affects its comparison order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GB"/>
              <a:t>Will not update</a:t>
            </a:r>
            <a:r>
              <a:rPr lang="en-GB"/>
              <a:t> automatically!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PriorityQueue</a:t>
            </a:r>
            <a:r>
              <a:rPr lang="en-GB"/>
              <a:t> assumes all its items don’t change in </a:t>
            </a:r>
            <a:r>
              <a:rPr lang="en-GB"/>
              <a:t>weight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</p:txBody>
      </p:sp>
      <p:sp>
        <p:nvSpPr>
          <p:cNvPr id="346" name="Google Shape;346;p53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workstations that lock itself after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-GB"/>
              <a:t> minutes of inactivity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are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GB"/>
              <a:t> researchers that want to use these workstations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Arrives after </a:t>
            </a:r>
            <a:r>
              <a:rPr lang="en-GB">
                <a:solidFill>
                  <a:schemeClr val="accent3"/>
                </a:solidFill>
              </a:rPr>
              <a:t>a</a:t>
            </a:r>
            <a:r>
              <a:rPr lang="en-GB"/>
              <a:t> minutes and stays for </a:t>
            </a:r>
            <a:r>
              <a:rPr lang="en-GB">
                <a:solidFill>
                  <a:schemeClr val="accent3"/>
                </a:solidFill>
              </a:rPr>
              <a:t>s</a:t>
            </a:r>
            <a:r>
              <a:rPr lang="en-GB"/>
              <a:t> minutes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Our protagonist is lazy, and wants to minimize the number of unlocks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400"/>
              <a:t>“Lets not lock the workstation and let the next researcher take over!”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many “unlocks” can she save by doing this?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</p:txBody>
      </p:sp>
      <p:sp>
        <p:nvSpPr>
          <p:cNvPr id="352" name="Google Shape;352;p54"/>
          <p:cNvSpPr txBox="1"/>
          <p:nvPr>
            <p:ph idx="1" type="body"/>
          </p:nvPr>
        </p:nvSpPr>
        <p:spPr>
          <a:xfrm>
            <a:off x="729450" y="1536775"/>
            <a:ext cx="76887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Workstations have 3 states</a:t>
            </a:r>
            <a:endParaRPr sz="1400"/>
          </a:p>
        </p:txBody>
      </p:sp>
      <p:sp>
        <p:nvSpPr>
          <p:cNvPr id="353" name="Google Shape;353;p54"/>
          <p:cNvSpPr/>
          <p:nvPr/>
        </p:nvSpPr>
        <p:spPr>
          <a:xfrm>
            <a:off x="1624925" y="251620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Locked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4" name="Google Shape;354;p54"/>
          <p:cNvSpPr/>
          <p:nvPr/>
        </p:nvSpPr>
        <p:spPr>
          <a:xfrm>
            <a:off x="4109400" y="412655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</a:rPr>
              <a:t>Unlocked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55" name="Google Shape;355;p54"/>
          <p:cNvSpPr/>
          <p:nvPr/>
        </p:nvSpPr>
        <p:spPr>
          <a:xfrm>
            <a:off x="6903850" y="251620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</a:rPr>
              <a:t>Unused</a:t>
            </a:r>
            <a:r>
              <a:rPr lang="en-GB" sz="1200">
                <a:solidFill>
                  <a:srgbClr val="FFFFFF"/>
                </a:solidFill>
              </a:rPr>
              <a:t> &amp; Unlocked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</p:txBody>
      </p:sp>
      <p:sp>
        <p:nvSpPr>
          <p:cNvPr id="361" name="Google Shape;361;p55"/>
          <p:cNvSpPr txBox="1"/>
          <p:nvPr>
            <p:ph idx="1" type="body"/>
          </p:nvPr>
        </p:nvSpPr>
        <p:spPr>
          <a:xfrm>
            <a:off x="729450" y="1536775"/>
            <a:ext cx="7688700" cy="4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Workstations have 3 states</a:t>
            </a:r>
            <a:endParaRPr sz="1400"/>
          </a:p>
        </p:txBody>
      </p:sp>
      <p:sp>
        <p:nvSpPr>
          <p:cNvPr id="362" name="Google Shape;362;p55"/>
          <p:cNvSpPr/>
          <p:nvPr/>
        </p:nvSpPr>
        <p:spPr>
          <a:xfrm>
            <a:off x="1624925" y="251620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</a:rPr>
              <a:t>Locked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3" name="Google Shape;363;p55"/>
          <p:cNvSpPr/>
          <p:nvPr/>
        </p:nvSpPr>
        <p:spPr>
          <a:xfrm>
            <a:off x="4109400" y="412655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</a:rPr>
              <a:t>Unlocked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64" name="Google Shape;364;p55"/>
          <p:cNvSpPr/>
          <p:nvPr/>
        </p:nvSpPr>
        <p:spPr>
          <a:xfrm>
            <a:off x="6903850" y="2516200"/>
            <a:ext cx="925200" cy="599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</a:rPr>
              <a:t>Unused &amp; Unlocked</a:t>
            </a:r>
            <a:endParaRPr sz="1200">
              <a:solidFill>
                <a:srgbClr val="FFFFFF"/>
              </a:solidFill>
            </a:endParaRPr>
          </a:p>
        </p:txBody>
      </p:sp>
      <p:cxnSp>
        <p:nvCxnSpPr>
          <p:cNvPr id="365" name="Google Shape;365;p55"/>
          <p:cNvCxnSpPr>
            <a:stCxn id="362" idx="2"/>
            <a:endCxn id="363" idx="1"/>
          </p:cNvCxnSpPr>
          <p:nvPr/>
        </p:nvCxnSpPr>
        <p:spPr>
          <a:xfrm>
            <a:off x="2087525" y="3115600"/>
            <a:ext cx="2022000" cy="1310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6" name="Google Shape;366;p55"/>
          <p:cNvSpPr txBox="1"/>
          <p:nvPr/>
        </p:nvSpPr>
        <p:spPr>
          <a:xfrm>
            <a:off x="1805775" y="3781775"/>
            <a:ext cx="1591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Unlocked by Penelope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7" name="Google Shape;367;p55"/>
          <p:cNvCxnSpPr>
            <a:stCxn id="363" idx="3"/>
            <a:endCxn id="364" idx="2"/>
          </p:cNvCxnSpPr>
          <p:nvPr/>
        </p:nvCxnSpPr>
        <p:spPr>
          <a:xfrm flipH="1" rot="10800000">
            <a:off x="5034600" y="3115550"/>
            <a:ext cx="2331900" cy="1310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8" name="Google Shape;368;p55"/>
          <p:cNvSpPr txBox="1"/>
          <p:nvPr/>
        </p:nvSpPr>
        <p:spPr>
          <a:xfrm>
            <a:off x="5806550" y="3781775"/>
            <a:ext cx="15912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Researcher Leaves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" name="Google Shape;369;p55"/>
          <p:cNvCxnSpPr>
            <a:stCxn id="364" idx="1"/>
            <a:endCxn id="362" idx="3"/>
          </p:cNvCxnSpPr>
          <p:nvPr/>
        </p:nvCxnSpPr>
        <p:spPr>
          <a:xfrm rot="10800000">
            <a:off x="2550250" y="2815900"/>
            <a:ext cx="43536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0" name="Google Shape;370;p55"/>
          <p:cNvSpPr txBox="1"/>
          <p:nvPr/>
        </p:nvSpPr>
        <p:spPr>
          <a:xfrm>
            <a:off x="3944575" y="2175800"/>
            <a:ext cx="1544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Unused for </a:t>
            </a:r>
            <a:r>
              <a:rPr lang="en-GB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 minutes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1" name="Google Shape;371;p55"/>
          <p:cNvCxnSpPr>
            <a:stCxn id="364" idx="1"/>
            <a:endCxn id="363" idx="0"/>
          </p:cNvCxnSpPr>
          <p:nvPr/>
        </p:nvCxnSpPr>
        <p:spPr>
          <a:xfrm flipH="1">
            <a:off x="4571950" y="2815900"/>
            <a:ext cx="2331900" cy="131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2" name="Google Shape;372;p55"/>
          <p:cNvSpPr txBox="1"/>
          <p:nvPr/>
        </p:nvSpPr>
        <p:spPr>
          <a:xfrm>
            <a:off x="4109400" y="3115550"/>
            <a:ext cx="1657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Researcher arrives while unlocked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" name="Google Shape;373;p55"/>
          <p:cNvSpPr/>
          <p:nvPr/>
        </p:nvSpPr>
        <p:spPr>
          <a:xfrm>
            <a:off x="4048200" y="3100900"/>
            <a:ext cx="1719000" cy="599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 b="1" sz="1400"/>
          </a:p>
        </p:txBody>
      </p:sp>
      <p:graphicFrame>
        <p:nvGraphicFramePr>
          <p:cNvPr id="380" name="Google Shape;380;p56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1" name="Google Shape;381;p56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82" name="Google Shape;382;p56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7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/>
          </a:p>
        </p:txBody>
      </p:sp>
      <p:graphicFrame>
        <p:nvGraphicFramePr>
          <p:cNvPr id="389" name="Google Shape;389;p57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Researcher 1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0" name="Google Shape;390;p57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91" name="Google Shape;391;p57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8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/>
          </a:p>
        </p:txBody>
      </p:sp>
      <p:graphicFrame>
        <p:nvGraphicFramePr>
          <p:cNvPr id="398" name="Google Shape;398;p58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Researcher 1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9" name="Google Shape;399;p58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0" name="Google Shape;400;p58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9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/>
          </a:p>
        </p:txBody>
      </p:sp>
      <p:graphicFrame>
        <p:nvGraphicFramePr>
          <p:cNvPr id="407" name="Google Shape;407;p59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8" name="Google Shape;408;p59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09" name="Google Shape;409;p59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59"/>
          <p:cNvSpPr txBox="1"/>
          <p:nvPr/>
        </p:nvSpPr>
        <p:spPr>
          <a:xfrm>
            <a:off x="3700350" y="3419125"/>
            <a:ext cx="1398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1 unlock saved!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60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/>
          </a:p>
        </p:txBody>
      </p:sp>
      <p:graphicFrame>
        <p:nvGraphicFramePr>
          <p:cNvPr id="417" name="Google Shape;417;p60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8" name="Google Shape;418;p60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19" name="Google Shape;419;p60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60"/>
          <p:cNvSpPr txBox="1"/>
          <p:nvPr/>
        </p:nvSpPr>
        <p:spPr>
          <a:xfrm>
            <a:off x="3700350" y="3419125"/>
            <a:ext cx="1924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Unlock timer reset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1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Sample Input 1</a:t>
            </a:r>
            <a:endParaRPr/>
          </a:p>
        </p:txBody>
      </p:sp>
      <p:graphicFrame>
        <p:nvGraphicFramePr>
          <p:cNvPr id="427" name="Google Shape;427;p61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91425" marB="91425" marR="91425" marL="91425"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28" name="Google Shape;428;p61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29" name="Google Shape;429;p61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430" name="Google Shape;430;p61"/>
          <p:cNvSpPr txBox="1"/>
          <p:nvPr/>
        </p:nvSpPr>
        <p:spPr>
          <a:xfrm>
            <a:off x="3700350" y="3419125"/>
            <a:ext cx="27531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Another unlock saved!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61"/>
          <p:cNvSpPr txBox="1"/>
          <p:nvPr/>
        </p:nvSpPr>
        <p:spPr>
          <a:xfrm>
            <a:off x="3700350" y="3973625"/>
            <a:ext cx="27531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Ans: 2 unlocks saved</a:t>
            </a:r>
            <a:endParaRPr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2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Different case - what if researcher 2 came in 1 minute earlier?</a:t>
            </a:r>
            <a:endParaRPr/>
          </a:p>
        </p:txBody>
      </p:sp>
      <p:graphicFrame>
        <p:nvGraphicFramePr>
          <p:cNvPr id="438" name="Google Shape;438;p62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Researcher 1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9" name="Google Shape;439;p62"/>
          <p:cNvSpPr txBox="1"/>
          <p:nvPr/>
        </p:nvSpPr>
        <p:spPr>
          <a:xfrm>
            <a:off x="1027975" y="3172138"/>
            <a:ext cx="1132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Legends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40" name="Google Shape;440;p62"/>
          <p:cNvGraphicFramePr/>
          <p:nvPr/>
        </p:nvGraphicFramePr>
        <p:xfrm>
          <a:off x="796050" y="357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1290125"/>
                <a:gridCol w="1290125"/>
              </a:tblGrid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Locked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Unlocked &amp; Not 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3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if researcher 2 came in 1 minute earlier?</a:t>
            </a:r>
            <a:endParaRPr/>
          </a:p>
        </p:txBody>
      </p:sp>
      <p:graphicFrame>
        <p:nvGraphicFramePr>
          <p:cNvPr id="447" name="Google Shape;447;p63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8" name="Google Shape;448;p63"/>
          <p:cNvSpPr txBox="1"/>
          <p:nvPr/>
        </p:nvSpPr>
        <p:spPr>
          <a:xfrm>
            <a:off x="795825" y="3842750"/>
            <a:ext cx="5158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No free stations, new workstation must be unlocked!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4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Researcher 3 arrives at time 9, stays for 5 minutes</a:t>
            </a:r>
            <a:endParaRPr/>
          </a:p>
        </p:txBody>
      </p:sp>
      <p:graphicFrame>
        <p:nvGraphicFramePr>
          <p:cNvPr id="455" name="Google Shape;455;p64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6" name="Google Shape;456;p64"/>
          <p:cNvSpPr txBox="1"/>
          <p:nvPr/>
        </p:nvSpPr>
        <p:spPr>
          <a:xfrm>
            <a:off x="795825" y="3842750"/>
            <a:ext cx="5158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Both stations are free!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7" name="Google Shape;457;p64"/>
          <p:cNvSpPr/>
          <p:nvPr/>
        </p:nvSpPr>
        <p:spPr>
          <a:xfrm>
            <a:off x="4422625" y="2733400"/>
            <a:ext cx="1914300" cy="792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5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Researcher 3 arrives at time 9, stays for 5 minutes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Assign to second workstation</a:t>
            </a:r>
            <a:endParaRPr/>
          </a:p>
        </p:txBody>
      </p:sp>
      <p:graphicFrame>
        <p:nvGraphicFramePr>
          <p:cNvPr id="464" name="Google Shape;464;p65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5" name="Google Shape;465;p65"/>
          <p:cNvSpPr txBox="1"/>
          <p:nvPr/>
        </p:nvSpPr>
        <p:spPr>
          <a:xfrm>
            <a:off x="4692075" y="3618950"/>
            <a:ext cx="1395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1 unlock saved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6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Researcher 4 arrives at time 12, stays for 3 minutes</a:t>
            </a:r>
            <a:endParaRPr/>
          </a:p>
        </p:txBody>
      </p:sp>
      <p:graphicFrame>
        <p:nvGraphicFramePr>
          <p:cNvPr id="472" name="Google Shape;472;p66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3" name="Google Shape;473;p66"/>
          <p:cNvSpPr/>
          <p:nvPr/>
        </p:nvSpPr>
        <p:spPr>
          <a:xfrm>
            <a:off x="5571175" y="2733400"/>
            <a:ext cx="1139700" cy="78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6"/>
          <p:cNvSpPr txBox="1"/>
          <p:nvPr/>
        </p:nvSpPr>
        <p:spPr>
          <a:xfrm>
            <a:off x="3552350" y="3744775"/>
            <a:ext cx="5328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No free workstations! Workstation 1 must be unlocked again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7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-GB">
                <a:solidFill>
                  <a:schemeClr val="accent3"/>
                </a:solidFill>
              </a:rPr>
              <a:t>Suboptimal solution</a:t>
            </a:r>
            <a:endParaRPr>
              <a:solidFill>
                <a:schemeClr val="accent3"/>
              </a:solidFill>
            </a:endParaRPr>
          </a:p>
        </p:txBody>
      </p:sp>
      <p:graphicFrame>
        <p:nvGraphicFramePr>
          <p:cNvPr id="481" name="Google Shape;481;p67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68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Assign researcher 3 to station 1 instead</a:t>
            </a:r>
            <a:endParaRPr/>
          </a:p>
        </p:txBody>
      </p:sp>
      <p:graphicFrame>
        <p:nvGraphicFramePr>
          <p:cNvPr id="488" name="Google Shape;488;p68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9" name="Google Shape;489;p68"/>
          <p:cNvSpPr txBox="1"/>
          <p:nvPr/>
        </p:nvSpPr>
        <p:spPr>
          <a:xfrm>
            <a:off x="4692075" y="3618950"/>
            <a:ext cx="13953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1 unlock saved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9"/>
          <p:cNvSpPr txBox="1"/>
          <p:nvPr>
            <p:ph idx="1" type="body"/>
          </p:nvPr>
        </p:nvSpPr>
        <p:spPr>
          <a:xfrm>
            <a:off x="729450" y="1536775"/>
            <a:ext cx="76887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Researcher 4 can be assigned to workstation 2 for free!</a:t>
            </a:r>
            <a:endParaRPr/>
          </a:p>
        </p:txBody>
      </p:sp>
      <p:graphicFrame>
        <p:nvGraphicFramePr>
          <p:cNvPr id="496" name="Google Shape;496;p69"/>
          <p:cNvGraphicFramePr/>
          <p:nvPr/>
        </p:nvGraphicFramePr>
        <p:xfrm>
          <a:off x="155225" y="233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{B908E674-A337-4617-BD22-070F3EBD77CE}</a:tableStyleId>
              </a:tblPr>
              <a:tblGrid>
                <a:gridCol w="8217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962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Time </a:t>
                      </a:r>
                      <a:r>
                        <a:rPr lang="en-GB" sz="1100"/>
                        <a:t>(inclusive)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1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3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2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Researcher 4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7" name="Google Shape;497;p69"/>
          <p:cNvSpPr txBox="1"/>
          <p:nvPr/>
        </p:nvSpPr>
        <p:spPr>
          <a:xfrm>
            <a:off x="4692075" y="3618950"/>
            <a:ext cx="19464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Another unlock saved!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7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problem demonstrates the </a:t>
            </a:r>
            <a:r>
              <a:rPr lang="en-GB">
                <a:solidFill>
                  <a:schemeClr val="dk1"/>
                </a:solidFill>
              </a:rPr>
              <a:t>Greedy Property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Also observed in the problem “Best Relay Runners”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There is a strategy to make an optimal choice at every step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71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Hint 1: If we have an unlocked machine, will we ever give the next person a new machine?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If yes, which of the unlocked machines should we give?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72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Hint 2: There is a trend with one day labs…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Which data structure to use?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3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</p:txBody>
      </p:sp>
      <p:sp>
        <p:nvSpPr>
          <p:cNvPr id="521" name="Google Shape;521;p73"/>
          <p:cNvSpPr txBox="1"/>
          <p:nvPr>
            <p:ph idx="1" type="body"/>
          </p:nvPr>
        </p:nvSpPr>
        <p:spPr>
          <a:xfrm>
            <a:off x="729450" y="1356675"/>
            <a:ext cx="7688700" cy="31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Hint 3: How do we handle machine expiry?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What happens if the current “best” machine (according to hint 1), that we’re tracking somewhere, has already expired?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Strategy 1: Immediately remove (slow?)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Strategy 2: Don’t remove, but prevent it from affecting our result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What are the ways we can see a “ghost” machine?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4"/>
          <p:cNvSpPr txBox="1"/>
          <p:nvPr>
            <p:ph type="title"/>
          </p:nvPr>
        </p:nvSpPr>
        <p:spPr>
          <a:xfrm>
            <a:off x="754200" y="607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8 One-day - Assigning Workstations</a:t>
            </a:r>
            <a:endParaRPr/>
          </a:p>
        </p:txBody>
      </p:sp>
      <p:sp>
        <p:nvSpPr>
          <p:cNvPr id="527" name="Google Shape;527;p74"/>
          <p:cNvSpPr txBox="1"/>
          <p:nvPr>
            <p:ph idx="1" type="body"/>
          </p:nvPr>
        </p:nvSpPr>
        <p:spPr>
          <a:xfrm>
            <a:off x="729450" y="1356675"/>
            <a:ext cx="7688700" cy="31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Hint 4: How to process researchers?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Should we process them in input ordering?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/>
              <a:t>Possible to have computer go from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10th researcher in input =&gt; 3rd =&gt; 1st =&gt; 2nd ….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 Guidelines</a:t>
            </a:r>
            <a:endParaRPr/>
          </a:p>
        </p:txBody>
      </p:sp>
      <p:sp>
        <p:nvSpPr>
          <p:cNvPr id="533" name="Google Shape;533;p75"/>
          <p:cNvSpPr txBox="1"/>
          <p:nvPr>
            <p:ph idx="1" type="body"/>
          </p:nvPr>
        </p:nvSpPr>
        <p:spPr>
          <a:xfrm>
            <a:off x="729450" y="16891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Include your </a:t>
            </a:r>
            <a:r>
              <a:rPr b="1" lang="en-GB" sz="1800">
                <a:solidFill>
                  <a:srgbClr val="CC4125"/>
                </a:solidFill>
              </a:rPr>
              <a:t>name</a:t>
            </a:r>
            <a:r>
              <a:rPr lang="en-GB" sz="1800"/>
              <a:t> and </a:t>
            </a:r>
            <a:r>
              <a:rPr b="1" lang="en-GB" sz="1800">
                <a:solidFill>
                  <a:srgbClr val="CC4125"/>
                </a:solidFill>
              </a:rPr>
              <a:t>student number</a:t>
            </a:r>
            <a:r>
              <a:rPr lang="en-GB" sz="1800"/>
              <a:t> in comments at the top of your code.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are allowed (and encouraged) to discuss algorithms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List down all your collaborators in your source code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●"/>
            </a:pPr>
            <a:r>
              <a:rPr b="1" lang="en-GB" sz="1800">
                <a:solidFill>
                  <a:srgbClr val="CC4125"/>
                </a:solidFill>
              </a:rPr>
              <a:t>You are NOT allowed to: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Copy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Look at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Use another person’s code as a base for your own code</a:t>
            </a:r>
            <a:endParaRPr b="1" sz="1800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Plagiarism checks will be in place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