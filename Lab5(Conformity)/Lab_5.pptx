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Raleway"/>
      <p:regular r:id="rId54"/>
      <p:bold r:id="rId55"/>
      <p:italic r:id="rId56"/>
      <p:boldItalic r:id="rId57"/>
    </p:embeddedFont>
    <p:embeddedFont>
      <p:font typeface="La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D10C70-8456-44E1-8FE0-0664574F2B32}">
  <a:tblStyle styleId="{5BD10C70-8456-44E1-8FE0-0664574F2B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a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aleway-bold.fntdata"/><Relationship Id="rId10" Type="http://schemas.openxmlformats.org/officeDocument/2006/relationships/slide" Target="slides/slide4.xml"/><Relationship Id="rId54" Type="http://schemas.openxmlformats.org/officeDocument/2006/relationships/font" Target="fonts/Raleway-regular.fntdata"/><Relationship Id="rId13" Type="http://schemas.openxmlformats.org/officeDocument/2006/relationships/slide" Target="slides/slide7.xml"/><Relationship Id="rId57" Type="http://schemas.openxmlformats.org/officeDocument/2006/relationships/font" Target="fonts/Raleway-boldItalic.fntdata"/><Relationship Id="rId12" Type="http://schemas.openxmlformats.org/officeDocument/2006/relationships/slide" Target="slides/slide6.xml"/><Relationship Id="rId56" Type="http://schemas.openxmlformats.org/officeDocument/2006/relationships/font" Target="fonts/Raleway-italic.fntdata"/><Relationship Id="rId15" Type="http://schemas.openxmlformats.org/officeDocument/2006/relationships/slide" Target="slides/slide9.xml"/><Relationship Id="rId59" Type="http://schemas.openxmlformats.org/officeDocument/2006/relationships/font" Target="fonts/Lato-bold.fntdata"/><Relationship Id="rId14" Type="http://schemas.openxmlformats.org/officeDocument/2006/relationships/slide" Target="slides/slide8.xml"/><Relationship Id="rId58" Type="http://schemas.openxmlformats.org/officeDocument/2006/relationships/font" Target="fonts/La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d78b759c3_6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9d78b759c3_6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d78b759c3_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d78b759c3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d78b759c3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d78b759c3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9d78b759c3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9d78b759c3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d78b759c3_6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d78b759c3_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d78b759c3_6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d78b759c3_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d78b759c3_6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d78b759c3_6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9d78b759c3_6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9d78b759c3_6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bca0db9d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bca0db9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bfb367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bfb367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8bfb3675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8bfb3675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9d78b759c3_6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9d78b759c3_6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9d78b759c3_6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9d78b759c3_6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d78b759c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d78b759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9d78b759c3_6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9d78b759c3_6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9d78b759c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9d78b759c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9d78b759c3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9d78b759c3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d78b759c3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d78b759c3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d78b759c3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d78b759c3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9d78b759c3_6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9d78b759c3_6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9d78b759c3_6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9d78b759c3_6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9d78b759c3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9d78b759c3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9d78b759c3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9d78b759c3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9d78b759c3_6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9d78b759c3_6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bca0db9d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bca0db9d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c0c9826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c0c9826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8c0c98269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8c0c9826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9d78b759c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9d78b759c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8c0c982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8c0c982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9d78b759c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9d78b759c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8bfb36750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8bfb36750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8bfb36750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8bfb36750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9d78b759c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9d78b759c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9d78b759c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9d78b759c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9d78b759c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9d78b759c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bfb3675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bfb3675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8bfb3675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8bfb3675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22e9f90d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22e9f90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8bfb36750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8bfb36750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9d78b759c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9d78b759c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9d78b759c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9d78b759c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9d78b759c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9d78b759c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bca0db9d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bca0db9d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9d78b759c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9d78b759c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9d78b759c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9d78b759c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adb5d304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adb5d304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5" name="Google Shape;85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9325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4643602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729625" y="13446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5 - Hashing</a:t>
            </a:r>
            <a:endParaRPr/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CS2040S Data Structures &amp; Algorithms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AY20/21 Semester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3 - Coconut Splat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3 - Coconut Splat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Simulate a counting-out game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player’s hand has 4 possible states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Both hands folded together (initial state)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Fist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Palm down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Behind back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player’s hand moves from state n to state (n+1) if hand is touched last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player is out of the game if both hands are behind the back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Find out which player will be the last player standing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Common approach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Keep a list of players, with each player having 2 </a:t>
            </a:r>
            <a:r>
              <a:rPr lang="en-GB">
                <a:solidFill>
                  <a:schemeClr val="accent3"/>
                </a:solidFill>
              </a:rPr>
              <a:t>hands </a:t>
            </a:r>
            <a:r>
              <a:rPr lang="en-GB"/>
              <a:t>(as variables)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1536775"/>
            <a:ext cx="7688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Common approach </a:t>
            </a:r>
            <a:r>
              <a:rPr lang="en-GB">
                <a:solidFill>
                  <a:srgbClr val="FF0000"/>
                </a:solidFill>
              </a:rPr>
              <a:t>(Problematic)</a:t>
            </a:r>
            <a:endParaRPr sz="18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Keep a list of players, with each player having 2 </a:t>
            </a:r>
            <a:r>
              <a:rPr lang="en-GB">
                <a:solidFill>
                  <a:schemeClr val="accent3"/>
                </a:solidFill>
              </a:rPr>
              <a:t>hands </a:t>
            </a:r>
            <a:r>
              <a:rPr lang="en-GB"/>
              <a:t>(as variables)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7650" y="2978750"/>
            <a:ext cx="7688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Order of hands matters!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1536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Order of hands matters!</a:t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1230300" y="2712300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Fist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2383225" y="2712300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Fist</a:t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3536150" y="2712300"/>
            <a:ext cx="896700" cy="622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4572000" y="2712300"/>
            <a:ext cx="896700" cy="62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556400" y="3713125"/>
            <a:ext cx="3652800" cy="4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Clockwise</a:t>
            </a:r>
            <a:endParaRPr/>
          </a:p>
        </p:txBody>
      </p:sp>
      <p:grpSp>
        <p:nvGrpSpPr>
          <p:cNvPr id="132" name="Google Shape;132;p19"/>
          <p:cNvGrpSpPr/>
          <p:nvPr/>
        </p:nvGrpSpPr>
        <p:grpSpPr>
          <a:xfrm>
            <a:off x="2679625" y="2158738"/>
            <a:ext cx="1638000" cy="466800"/>
            <a:chOff x="2679625" y="2158738"/>
            <a:chExt cx="1638000" cy="466800"/>
          </a:xfrm>
        </p:grpSpPr>
        <p:sp>
          <p:nvSpPr>
            <p:cNvPr id="133" name="Google Shape;133;p19"/>
            <p:cNvSpPr/>
            <p:nvPr/>
          </p:nvSpPr>
          <p:spPr>
            <a:xfrm>
              <a:off x="2679625" y="2158738"/>
              <a:ext cx="303900" cy="4668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2983525" y="2158750"/>
              <a:ext cx="1334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ato"/>
                  <a:ea typeface="Lato"/>
                  <a:cs typeface="Lato"/>
                  <a:sym typeface="Lato"/>
                </a:rPr>
                <a:t>Last touched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729450" y="1536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Order of hands matters!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1230300" y="2712300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Fist</a:t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2383225" y="2712300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Palm Down</a:t>
            </a:r>
            <a:endParaRPr sz="1000"/>
          </a:p>
        </p:txBody>
      </p:sp>
      <p:sp>
        <p:nvSpPr>
          <p:cNvPr id="143" name="Google Shape;143;p20"/>
          <p:cNvSpPr/>
          <p:nvPr/>
        </p:nvSpPr>
        <p:spPr>
          <a:xfrm>
            <a:off x="3536150" y="2712300"/>
            <a:ext cx="896700" cy="622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4572000" y="2712300"/>
            <a:ext cx="896700" cy="62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1556400" y="3713125"/>
            <a:ext cx="3652800" cy="4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Clockwise</a:t>
            </a:r>
            <a:endParaRPr/>
          </a:p>
        </p:txBody>
      </p:sp>
      <p:grpSp>
        <p:nvGrpSpPr>
          <p:cNvPr id="146" name="Google Shape;146;p20"/>
          <p:cNvGrpSpPr/>
          <p:nvPr/>
        </p:nvGrpSpPr>
        <p:grpSpPr>
          <a:xfrm>
            <a:off x="3830700" y="2082538"/>
            <a:ext cx="1638000" cy="542988"/>
            <a:chOff x="2679625" y="2082550"/>
            <a:chExt cx="1638000" cy="542988"/>
          </a:xfrm>
        </p:grpSpPr>
        <p:sp>
          <p:nvSpPr>
            <p:cNvPr id="147" name="Google Shape;147;p20"/>
            <p:cNvSpPr/>
            <p:nvPr/>
          </p:nvSpPr>
          <p:spPr>
            <a:xfrm>
              <a:off x="2679625" y="2158738"/>
              <a:ext cx="303900" cy="4668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0"/>
            <p:cNvSpPr txBox="1"/>
            <p:nvPr/>
          </p:nvSpPr>
          <p:spPr>
            <a:xfrm>
              <a:off x="2983525" y="2082550"/>
              <a:ext cx="1334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ato"/>
                  <a:ea typeface="Lato"/>
                  <a:cs typeface="Lato"/>
                  <a:sym typeface="Lato"/>
                </a:rPr>
                <a:t>Next round begins here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729450" y="1536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Order of hands matters!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2364225" y="2712325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3536150" y="2712300"/>
            <a:ext cx="896700" cy="622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4572000" y="2712300"/>
            <a:ext cx="896700" cy="62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1556400" y="3713125"/>
            <a:ext cx="3652800" cy="4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Clockwise</a:t>
            </a:r>
            <a:endParaRPr/>
          </a:p>
        </p:txBody>
      </p:sp>
      <p:grpSp>
        <p:nvGrpSpPr>
          <p:cNvPr id="159" name="Google Shape;159;p21"/>
          <p:cNvGrpSpPr/>
          <p:nvPr/>
        </p:nvGrpSpPr>
        <p:grpSpPr>
          <a:xfrm>
            <a:off x="2679625" y="2158738"/>
            <a:ext cx="1638000" cy="466800"/>
            <a:chOff x="2679625" y="2158738"/>
            <a:chExt cx="1638000" cy="466800"/>
          </a:xfrm>
        </p:grpSpPr>
        <p:sp>
          <p:nvSpPr>
            <p:cNvPr id="160" name="Google Shape;160;p21"/>
            <p:cNvSpPr/>
            <p:nvPr/>
          </p:nvSpPr>
          <p:spPr>
            <a:xfrm>
              <a:off x="2679625" y="2158738"/>
              <a:ext cx="303900" cy="4668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2983525" y="2158750"/>
              <a:ext cx="1334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ato"/>
                  <a:ea typeface="Lato"/>
                  <a:cs typeface="Lato"/>
                  <a:sym typeface="Lato"/>
                </a:rPr>
                <a:t>Last touched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729450" y="1536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Order of hands matters!</a:t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1230300" y="2712300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Fist</a:t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2383225" y="2712300"/>
            <a:ext cx="896700" cy="6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Fist</a:t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3536150" y="2712300"/>
            <a:ext cx="896700" cy="622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4572000" y="2712300"/>
            <a:ext cx="896700" cy="62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Player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Folded</a:t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1556400" y="3713125"/>
            <a:ext cx="3652800" cy="4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Clockwise</a:t>
            </a:r>
            <a:endParaRPr/>
          </a:p>
        </p:txBody>
      </p:sp>
      <p:grpSp>
        <p:nvGrpSpPr>
          <p:cNvPr id="173" name="Google Shape;173;p22"/>
          <p:cNvGrpSpPr/>
          <p:nvPr/>
        </p:nvGrpSpPr>
        <p:grpSpPr>
          <a:xfrm>
            <a:off x="2679625" y="2082550"/>
            <a:ext cx="1638000" cy="542988"/>
            <a:chOff x="2679625" y="2082550"/>
            <a:chExt cx="1638000" cy="542988"/>
          </a:xfrm>
        </p:grpSpPr>
        <p:sp>
          <p:nvSpPr>
            <p:cNvPr id="174" name="Google Shape;174;p22"/>
            <p:cNvSpPr/>
            <p:nvPr/>
          </p:nvSpPr>
          <p:spPr>
            <a:xfrm>
              <a:off x="2679625" y="2158738"/>
              <a:ext cx="303900" cy="4668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2"/>
            <p:cNvSpPr txBox="1"/>
            <p:nvPr/>
          </p:nvSpPr>
          <p:spPr>
            <a:xfrm>
              <a:off x="2983525" y="2082550"/>
              <a:ext cx="1334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ato"/>
                  <a:ea typeface="Lato"/>
                  <a:cs typeface="Lato"/>
                  <a:sym typeface="Lato"/>
                </a:rPr>
                <a:t>Next Round Begins Here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76" name="Google Shape;176;p22"/>
          <p:cNvSpPr txBox="1"/>
          <p:nvPr/>
        </p:nvSpPr>
        <p:spPr>
          <a:xfrm>
            <a:off x="6010650" y="2571750"/>
            <a:ext cx="2594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Round can potentially start with the next player!</a:t>
            </a:r>
            <a:endParaRPr b="1"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3 - Coconut Splat</a:t>
            </a:r>
            <a:endParaRPr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Hand</a:t>
            </a:r>
            <a:r>
              <a:rPr lang="en-GB" sz="1800"/>
              <a:t> class to represent a hand/hands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Contains the player which it belongs to, and state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a linked list/deque of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Hand</a:t>
            </a:r>
            <a:r>
              <a:rPr lang="en-GB" sz="1800"/>
              <a:t>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</a:t>
            </a:r>
            <a:r>
              <a:rPr lang="en-GB"/>
              <a:t> - Coconut Splat</a:t>
            </a:r>
            <a:endParaRPr/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Initialize the list with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num_player</a:t>
            </a:r>
            <a:r>
              <a:rPr lang="en-GB" sz="1800"/>
              <a:t> instances of Hands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All start with folded state, but belong to different players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Simulate counting off by moving the hand at the front to the back (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num_syllables - 1</a:t>
            </a:r>
            <a:r>
              <a:rPr lang="en-GB" sz="1800"/>
              <a:t>) times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Remove the hand at the front of the list and store it as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curr_hand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 3</a:t>
            </a:r>
            <a:r>
              <a:rPr lang="en-GB"/>
              <a:t> - Coconut Splat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If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curr_hand</a:t>
            </a:r>
            <a:r>
              <a:rPr lang="en-GB" sz="1800"/>
              <a:t> is folded, add two instances of fist to the </a:t>
            </a:r>
            <a:r>
              <a:rPr b="1" lang="en-GB" sz="1800"/>
              <a:t>front</a:t>
            </a:r>
            <a:r>
              <a:rPr lang="en-GB" sz="1800"/>
              <a:t> of the list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If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curr_hand</a:t>
            </a:r>
            <a:r>
              <a:rPr lang="en-GB" sz="1800"/>
              <a:t> is fist, add a instance of palm to the </a:t>
            </a:r>
            <a:r>
              <a:rPr b="1" lang="en-GB" sz="1800"/>
              <a:t>back</a:t>
            </a:r>
            <a:r>
              <a:rPr lang="en-GB" sz="1800"/>
              <a:t> of the list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If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curr_hand</a:t>
            </a:r>
            <a:r>
              <a:rPr lang="en-GB" sz="1800"/>
              <a:t> is palm, do nothing (i.e. delete this hand)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Repeat until there is only one hand left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 Home Lab 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 Home Lab 2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FF"/>
                </a:solidFill>
              </a:rPr>
              <a:t>General Theme</a:t>
            </a:r>
            <a:endParaRPr b="1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Implementing your own data structure!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TH2A - Join Strings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Join N string fragments together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Avoid actually performing string concatenation per command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Delay for later, then construct/print one-shot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Represent as “linked list” of fragments</a:t>
            </a:r>
            <a:endParaRPr/>
          </a:p>
        </p:txBody>
      </p:sp>
      <p:grpSp>
        <p:nvGrpSpPr>
          <p:cNvPr id="212" name="Google Shape;212;p28"/>
          <p:cNvGrpSpPr/>
          <p:nvPr/>
        </p:nvGrpSpPr>
        <p:grpSpPr>
          <a:xfrm>
            <a:off x="1881950" y="3714350"/>
            <a:ext cx="2547500" cy="381900"/>
            <a:chOff x="1881950" y="3714350"/>
            <a:chExt cx="2547500" cy="381900"/>
          </a:xfrm>
        </p:grpSpPr>
        <p:sp>
          <p:nvSpPr>
            <p:cNvPr id="213" name="Google Shape;213;p28"/>
            <p:cNvSpPr/>
            <p:nvPr/>
          </p:nvSpPr>
          <p:spPr>
            <a:xfrm>
              <a:off x="18819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abc</a:t>
              </a: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28267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def</a:t>
              </a: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37715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ghi</a:t>
              </a:r>
              <a:endParaRPr/>
            </a:p>
          </p:txBody>
        </p:sp>
        <p:cxnSp>
          <p:nvCxnSpPr>
            <p:cNvPr id="216" name="Google Shape;216;p28"/>
            <p:cNvCxnSpPr>
              <a:stCxn id="213" idx="3"/>
              <a:endCxn id="214" idx="1"/>
            </p:cNvCxnSpPr>
            <p:nvPr/>
          </p:nvCxnSpPr>
          <p:spPr>
            <a:xfrm>
              <a:off x="2539850" y="3905300"/>
              <a:ext cx="2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7" name="Google Shape;217;p28"/>
            <p:cNvCxnSpPr>
              <a:stCxn id="214" idx="3"/>
              <a:endCxn id="215" idx="1"/>
            </p:cNvCxnSpPr>
            <p:nvPr/>
          </p:nvCxnSpPr>
          <p:spPr>
            <a:xfrm>
              <a:off x="3484650" y="3905300"/>
              <a:ext cx="2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8" name="Google Shape;218;p28"/>
          <p:cNvGrpSpPr/>
          <p:nvPr/>
        </p:nvGrpSpPr>
        <p:grpSpPr>
          <a:xfrm>
            <a:off x="1881950" y="4492275"/>
            <a:ext cx="2547500" cy="381900"/>
            <a:chOff x="1881950" y="3714350"/>
            <a:chExt cx="2547500" cy="381900"/>
          </a:xfrm>
        </p:grpSpPr>
        <p:sp>
          <p:nvSpPr>
            <p:cNvPr id="219" name="Google Shape;219;p28"/>
            <p:cNvSpPr/>
            <p:nvPr/>
          </p:nvSpPr>
          <p:spPr>
            <a:xfrm>
              <a:off x="18819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xyz</a:t>
              </a:r>
              <a:endParaRPr/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28267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uvw</a:t>
              </a:r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37715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rst</a:t>
              </a:r>
              <a:endParaRPr/>
            </a:p>
          </p:txBody>
        </p:sp>
        <p:cxnSp>
          <p:nvCxnSpPr>
            <p:cNvPr id="222" name="Google Shape;222;p28"/>
            <p:cNvCxnSpPr>
              <a:stCxn id="219" idx="3"/>
              <a:endCxn id="220" idx="1"/>
            </p:cNvCxnSpPr>
            <p:nvPr/>
          </p:nvCxnSpPr>
          <p:spPr>
            <a:xfrm>
              <a:off x="2539850" y="3905300"/>
              <a:ext cx="2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3" name="Google Shape;223;p28"/>
            <p:cNvCxnSpPr>
              <a:stCxn id="220" idx="3"/>
              <a:endCxn id="221" idx="1"/>
            </p:cNvCxnSpPr>
            <p:nvPr/>
          </p:nvCxnSpPr>
          <p:spPr>
            <a:xfrm>
              <a:off x="3484650" y="3905300"/>
              <a:ext cx="2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4" name="Google Shape;224;p28"/>
          <p:cNvSpPr txBox="1"/>
          <p:nvPr/>
        </p:nvSpPr>
        <p:spPr>
          <a:xfrm>
            <a:off x="6011600" y="1268000"/>
            <a:ext cx="28047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tail = front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while(tail.next != null)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tail = tail.next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tail.next = back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5291300" y="1559300"/>
            <a:ext cx="768600" cy="4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TH2A - Join Strings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Common Pitfalls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String concatenation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Java’s LinkedList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Combining 2 operations takes </a:t>
            </a:r>
            <a:r>
              <a:rPr lang="en-GB">
                <a:solidFill>
                  <a:srgbClr val="FF0000"/>
                </a:solidFill>
              </a:rPr>
              <a:t>O(n)</a:t>
            </a:r>
            <a:br>
              <a:rPr lang="en-GB"/>
            </a:br>
            <a:r>
              <a:rPr lang="en-GB"/>
              <a:t>n = length of second Linked List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 Strings - Speeding up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Linked list node per fragment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Extra “tail” pointer in each node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Fast O(1) access</a:t>
            </a:r>
            <a:r>
              <a:rPr lang="en-GB"/>
              <a:t> to </a:t>
            </a:r>
            <a:r>
              <a:rPr b="1" lang="en-GB" u="sng"/>
              <a:t>last non-null node in chain</a:t>
            </a:r>
            <a:r>
              <a:rPr lang="en-GB"/>
              <a:t>, from current head of chain</a:t>
            </a:r>
            <a:endParaRPr/>
          </a:p>
        </p:txBody>
      </p:sp>
      <p:grpSp>
        <p:nvGrpSpPr>
          <p:cNvPr id="238" name="Google Shape;238;p30"/>
          <p:cNvGrpSpPr/>
          <p:nvPr/>
        </p:nvGrpSpPr>
        <p:grpSpPr>
          <a:xfrm>
            <a:off x="1881950" y="3714350"/>
            <a:ext cx="2547500" cy="381900"/>
            <a:chOff x="1881950" y="3714350"/>
            <a:chExt cx="2547500" cy="381900"/>
          </a:xfrm>
        </p:grpSpPr>
        <p:grpSp>
          <p:nvGrpSpPr>
            <p:cNvPr id="239" name="Google Shape;239;p30"/>
            <p:cNvGrpSpPr/>
            <p:nvPr/>
          </p:nvGrpSpPr>
          <p:grpSpPr>
            <a:xfrm>
              <a:off x="1881950" y="3714350"/>
              <a:ext cx="2547500" cy="381900"/>
              <a:chOff x="1881950" y="3714350"/>
              <a:chExt cx="2547500" cy="381900"/>
            </a:xfrm>
          </p:grpSpPr>
          <p:sp>
            <p:nvSpPr>
              <p:cNvPr id="240" name="Google Shape;240;p30"/>
              <p:cNvSpPr/>
              <p:nvPr/>
            </p:nvSpPr>
            <p:spPr>
              <a:xfrm>
                <a:off x="1881950" y="3714350"/>
                <a:ext cx="657900" cy="381900"/>
              </a:xfrm>
              <a:prstGeom prst="rect">
                <a:avLst/>
              </a:prstGeom>
              <a:solidFill>
                <a:schemeClr val="accent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abc</a:t>
                </a:r>
                <a:endParaRPr/>
              </a:p>
            </p:txBody>
          </p:sp>
          <p:sp>
            <p:nvSpPr>
              <p:cNvPr id="241" name="Google Shape;241;p30"/>
              <p:cNvSpPr/>
              <p:nvPr/>
            </p:nvSpPr>
            <p:spPr>
              <a:xfrm>
                <a:off x="2826750" y="3714350"/>
                <a:ext cx="657900" cy="381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def</a:t>
                </a:r>
                <a:endParaRPr/>
              </a:p>
            </p:txBody>
          </p:sp>
          <p:sp>
            <p:nvSpPr>
              <p:cNvPr id="242" name="Google Shape;242;p30"/>
              <p:cNvSpPr/>
              <p:nvPr/>
            </p:nvSpPr>
            <p:spPr>
              <a:xfrm>
                <a:off x="3771550" y="3714350"/>
                <a:ext cx="657900" cy="381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ghi</a:t>
                </a:r>
                <a:endParaRPr/>
              </a:p>
            </p:txBody>
          </p:sp>
          <p:cxnSp>
            <p:nvCxnSpPr>
              <p:cNvPr id="243" name="Google Shape;243;p30"/>
              <p:cNvCxnSpPr>
                <a:stCxn id="240" idx="3"/>
                <a:endCxn id="241" idx="1"/>
              </p:cNvCxnSpPr>
              <p:nvPr/>
            </p:nvCxnSpPr>
            <p:spPr>
              <a:xfrm>
                <a:off x="2539850" y="3905300"/>
                <a:ext cx="28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4" name="Google Shape;244;p30"/>
              <p:cNvCxnSpPr>
                <a:stCxn id="241" idx="3"/>
                <a:endCxn id="242" idx="1"/>
              </p:cNvCxnSpPr>
              <p:nvPr/>
            </p:nvCxnSpPr>
            <p:spPr>
              <a:xfrm>
                <a:off x="3484650" y="3905300"/>
                <a:ext cx="28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45" name="Google Shape;245;p30"/>
            <p:cNvCxnSpPr>
              <a:stCxn id="240" idx="0"/>
              <a:endCxn id="242" idx="0"/>
            </p:cNvCxnSpPr>
            <p:nvPr/>
          </p:nvCxnSpPr>
          <p:spPr>
            <a:xfrm flipH="1" rot="-5400000">
              <a:off x="3155450" y="2769800"/>
              <a:ext cx="600" cy="1889700"/>
            </a:xfrm>
            <a:prstGeom prst="curvedConnector3">
              <a:avLst>
                <a:gd fmla="val -39687500" name="adj1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6" name="Google Shape;246;p30"/>
          <p:cNvGrpSpPr/>
          <p:nvPr/>
        </p:nvGrpSpPr>
        <p:grpSpPr>
          <a:xfrm>
            <a:off x="1881950" y="4492275"/>
            <a:ext cx="2547500" cy="381900"/>
            <a:chOff x="1881950" y="4492275"/>
            <a:chExt cx="2547500" cy="381900"/>
          </a:xfrm>
        </p:grpSpPr>
        <p:grpSp>
          <p:nvGrpSpPr>
            <p:cNvPr id="247" name="Google Shape;247;p30"/>
            <p:cNvGrpSpPr/>
            <p:nvPr/>
          </p:nvGrpSpPr>
          <p:grpSpPr>
            <a:xfrm>
              <a:off x="1881950" y="4492275"/>
              <a:ext cx="2547500" cy="381900"/>
              <a:chOff x="1881950" y="3714350"/>
              <a:chExt cx="2547500" cy="381900"/>
            </a:xfrm>
          </p:grpSpPr>
          <p:sp>
            <p:nvSpPr>
              <p:cNvPr id="248" name="Google Shape;248;p30"/>
              <p:cNvSpPr/>
              <p:nvPr/>
            </p:nvSpPr>
            <p:spPr>
              <a:xfrm>
                <a:off x="1881950" y="3714350"/>
                <a:ext cx="657900" cy="381900"/>
              </a:xfrm>
              <a:prstGeom prst="rect">
                <a:avLst/>
              </a:prstGeom>
              <a:solidFill>
                <a:schemeClr val="accent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x</a:t>
                </a:r>
                <a:r>
                  <a:rPr lang="en-GB"/>
                  <a:t>yz</a:t>
                </a:r>
                <a:endParaRPr/>
              </a:p>
            </p:txBody>
          </p:sp>
          <p:sp>
            <p:nvSpPr>
              <p:cNvPr id="249" name="Google Shape;249;p30"/>
              <p:cNvSpPr/>
              <p:nvPr/>
            </p:nvSpPr>
            <p:spPr>
              <a:xfrm>
                <a:off x="2826750" y="3714350"/>
                <a:ext cx="657900" cy="381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uvw</a:t>
                </a:r>
                <a:endParaRPr/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>
                <a:off x="3771550" y="3714350"/>
                <a:ext cx="657900" cy="381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rst</a:t>
                </a:r>
                <a:endParaRPr/>
              </a:p>
            </p:txBody>
          </p:sp>
          <p:cxnSp>
            <p:nvCxnSpPr>
              <p:cNvPr id="251" name="Google Shape;251;p30"/>
              <p:cNvCxnSpPr>
                <a:stCxn id="248" idx="3"/>
                <a:endCxn id="249" idx="1"/>
              </p:cNvCxnSpPr>
              <p:nvPr/>
            </p:nvCxnSpPr>
            <p:spPr>
              <a:xfrm>
                <a:off x="2539850" y="3905300"/>
                <a:ext cx="28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52" name="Google Shape;252;p30"/>
              <p:cNvCxnSpPr>
                <a:stCxn id="249" idx="3"/>
                <a:endCxn id="250" idx="1"/>
              </p:cNvCxnSpPr>
              <p:nvPr/>
            </p:nvCxnSpPr>
            <p:spPr>
              <a:xfrm>
                <a:off x="3484650" y="3905300"/>
                <a:ext cx="28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53" name="Google Shape;253;p30"/>
            <p:cNvCxnSpPr>
              <a:stCxn id="248" idx="0"/>
              <a:endCxn id="250" idx="0"/>
            </p:cNvCxnSpPr>
            <p:nvPr/>
          </p:nvCxnSpPr>
          <p:spPr>
            <a:xfrm flipH="1" rot="-5400000">
              <a:off x="3155450" y="3547725"/>
              <a:ext cx="600" cy="1889700"/>
            </a:xfrm>
            <a:prstGeom prst="curvedConnector3">
              <a:avLst>
                <a:gd fmla="val -39687500" name="adj1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54" name="Google Shape;254;p30"/>
          <p:cNvGrpSpPr/>
          <p:nvPr/>
        </p:nvGrpSpPr>
        <p:grpSpPr>
          <a:xfrm>
            <a:off x="5204700" y="3714350"/>
            <a:ext cx="2547500" cy="969000"/>
            <a:chOff x="1881950" y="3714350"/>
            <a:chExt cx="2547500" cy="969000"/>
          </a:xfrm>
        </p:grpSpPr>
        <p:grpSp>
          <p:nvGrpSpPr>
            <p:cNvPr id="255" name="Google Shape;255;p30"/>
            <p:cNvGrpSpPr/>
            <p:nvPr/>
          </p:nvGrpSpPr>
          <p:grpSpPr>
            <a:xfrm>
              <a:off x="1881950" y="3714350"/>
              <a:ext cx="2547500" cy="381900"/>
              <a:chOff x="1881950" y="3714350"/>
              <a:chExt cx="2547500" cy="381900"/>
            </a:xfrm>
          </p:grpSpPr>
          <p:sp>
            <p:nvSpPr>
              <p:cNvPr id="256" name="Google Shape;256;p30"/>
              <p:cNvSpPr/>
              <p:nvPr/>
            </p:nvSpPr>
            <p:spPr>
              <a:xfrm>
                <a:off x="1881950" y="3714350"/>
                <a:ext cx="657900" cy="381900"/>
              </a:xfrm>
              <a:prstGeom prst="rect">
                <a:avLst/>
              </a:prstGeom>
              <a:solidFill>
                <a:schemeClr val="accent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abc</a:t>
                </a:r>
                <a:endParaRPr/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>
                <a:off x="2826750" y="3714350"/>
                <a:ext cx="657900" cy="381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def</a:t>
                </a:r>
                <a:endParaRPr/>
              </a:p>
            </p:txBody>
          </p:sp>
          <p:sp>
            <p:nvSpPr>
              <p:cNvPr id="258" name="Google Shape;258;p30"/>
              <p:cNvSpPr/>
              <p:nvPr/>
            </p:nvSpPr>
            <p:spPr>
              <a:xfrm>
                <a:off x="3771550" y="3714350"/>
                <a:ext cx="657900" cy="381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ghi</a:t>
                </a:r>
                <a:endParaRPr/>
              </a:p>
            </p:txBody>
          </p:sp>
          <p:cxnSp>
            <p:nvCxnSpPr>
              <p:cNvPr id="259" name="Google Shape;259;p30"/>
              <p:cNvCxnSpPr>
                <a:stCxn id="256" idx="3"/>
                <a:endCxn id="257" idx="1"/>
              </p:cNvCxnSpPr>
              <p:nvPr/>
            </p:nvCxnSpPr>
            <p:spPr>
              <a:xfrm>
                <a:off x="2539850" y="3905300"/>
                <a:ext cx="28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60" name="Google Shape;260;p30"/>
              <p:cNvCxnSpPr>
                <a:stCxn id="257" idx="3"/>
                <a:endCxn id="258" idx="1"/>
              </p:cNvCxnSpPr>
              <p:nvPr/>
            </p:nvCxnSpPr>
            <p:spPr>
              <a:xfrm>
                <a:off x="3484650" y="3905300"/>
                <a:ext cx="28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61" name="Google Shape;261;p30"/>
            <p:cNvCxnSpPr>
              <a:stCxn id="256" idx="0"/>
              <a:endCxn id="262" idx="3"/>
            </p:cNvCxnSpPr>
            <p:nvPr/>
          </p:nvCxnSpPr>
          <p:spPr>
            <a:xfrm flipH="1" rot="-5400000">
              <a:off x="2835650" y="3089600"/>
              <a:ext cx="969000" cy="2218500"/>
            </a:xfrm>
            <a:prstGeom prst="curvedConnector4">
              <a:avLst>
                <a:gd fmla="val -32497" name="adj1"/>
                <a:gd fmla="val 128984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63" name="Google Shape;263;p30"/>
          <p:cNvGrpSpPr/>
          <p:nvPr/>
        </p:nvGrpSpPr>
        <p:grpSpPr>
          <a:xfrm>
            <a:off x="5204700" y="4492275"/>
            <a:ext cx="2547500" cy="381900"/>
            <a:chOff x="1881950" y="3714350"/>
            <a:chExt cx="2547500" cy="381900"/>
          </a:xfrm>
        </p:grpSpPr>
        <p:sp>
          <p:nvSpPr>
            <p:cNvPr id="264" name="Google Shape;264;p30"/>
            <p:cNvSpPr/>
            <p:nvPr/>
          </p:nvSpPr>
          <p:spPr>
            <a:xfrm>
              <a:off x="18819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xyz</a:t>
              </a:r>
              <a:endParaRPr/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28267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uvw</a:t>
              </a: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3771550" y="3714350"/>
              <a:ext cx="657900" cy="381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rst</a:t>
              </a:r>
              <a:endParaRPr/>
            </a:p>
          </p:txBody>
        </p:sp>
        <p:cxnSp>
          <p:nvCxnSpPr>
            <p:cNvPr id="266" name="Google Shape;266;p30"/>
            <p:cNvCxnSpPr>
              <a:stCxn id="264" idx="3"/>
              <a:endCxn id="265" idx="1"/>
            </p:cNvCxnSpPr>
            <p:nvPr/>
          </p:nvCxnSpPr>
          <p:spPr>
            <a:xfrm>
              <a:off x="2539850" y="3905300"/>
              <a:ext cx="2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7" name="Google Shape;267;p30"/>
            <p:cNvCxnSpPr>
              <a:stCxn id="265" idx="3"/>
              <a:endCxn id="262" idx="1"/>
            </p:cNvCxnSpPr>
            <p:nvPr/>
          </p:nvCxnSpPr>
          <p:spPr>
            <a:xfrm>
              <a:off x="3484650" y="3905300"/>
              <a:ext cx="2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68" name="Google Shape;268;p30"/>
          <p:cNvCxnSpPr>
            <a:stCxn id="258" idx="2"/>
            <a:endCxn id="264" idx="0"/>
          </p:cNvCxnSpPr>
          <p:nvPr/>
        </p:nvCxnSpPr>
        <p:spPr>
          <a:xfrm rot="5400000">
            <a:off x="6280400" y="3349400"/>
            <a:ext cx="396000" cy="18897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30"/>
          <p:cNvSpPr/>
          <p:nvPr/>
        </p:nvSpPr>
        <p:spPr>
          <a:xfrm>
            <a:off x="4552300" y="4101500"/>
            <a:ext cx="534600" cy="38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"/>
          <p:cNvSpPr txBox="1"/>
          <p:nvPr/>
        </p:nvSpPr>
        <p:spPr>
          <a:xfrm>
            <a:off x="6026400" y="1356675"/>
            <a:ext cx="2416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front.tail.next = back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front.tail = back.tail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5291300" y="1406900"/>
            <a:ext cx="768600" cy="4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O(1)</a:t>
            </a:r>
            <a:endParaRPr/>
          </a:p>
        </p:txBody>
      </p:sp>
      <p:sp>
        <p:nvSpPr>
          <p:cNvPr id="272" name="Google Shape;272;p30"/>
          <p:cNvSpPr/>
          <p:nvPr/>
        </p:nvSpPr>
        <p:spPr>
          <a:xfrm>
            <a:off x="291750" y="4110375"/>
            <a:ext cx="657900" cy="381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abc</a:t>
            </a:r>
            <a:endParaRPr/>
          </a:p>
        </p:txBody>
      </p:sp>
      <p:cxnSp>
        <p:nvCxnSpPr>
          <p:cNvPr id="273" name="Google Shape;273;p30"/>
          <p:cNvCxnSpPr>
            <a:stCxn id="272" idx="0"/>
            <a:endCxn id="272" idx="3"/>
          </p:cNvCxnSpPr>
          <p:nvPr/>
        </p:nvCxnSpPr>
        <p:spPr>
          <a:xfrm flipH="1" rot="-5400000">
            <a:off x="689700" y="4041375"/>
            <a:ext cx="191100" cy="329100"/>
          </a:xfrm>
          <a:prstGeom prst="curvedConnector4">
            <a:avLst>
              <a:gd fmla="val -124803" name="adj1"/>
              <a:gd fmla="val 172311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30"/>
          <p:cNvSpPr/>
          <p:nvPr/>
        </p:nvSpPr>
        <p:spPr>
          <a:xfrm>
            <a:off x="1345050" y="4101500"/>
            <a:ext cx="534600" cy="38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4271475" y="3103825"/>
            <a:ext cx="968100" cy="372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Invariant!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729325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class LinkedNode: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String value;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LinkedNode next = null;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LinkedNode tail = this;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n = GetInt()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fragments = LinkedNode[N]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for i = 0..n-1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word = GetWord()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fragments[i] = LinkedNode(word)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lastUsed = 0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31"/>
          <p:cNvSpPr txBox="1"/>
          <p:nvPr>
            <p:ph idx="2" type="body"/>
          </p:nvPr>
        </p:nvSpPr>
        <p:spPr>
          <a:xfrm>
            <a:off x="4643600" y="1356675"/>
            <a:ext cx="3774300" cy="3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for i = 1..n-1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a = GetInt(), b = GetInt()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lastUsed = a-1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aNode = fragments[a-1]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bNode = fragments[b-1]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aNode.tail.next = bNode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aNode.tail = bNode.tail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cur = fragments[lastUsed]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while(cur != null)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Print(cur.value)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cur = cur.next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PrintLine()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3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 Strings - Pseudocode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5039750" y="2616225"/>
            <a:ext cx="2749500" cy="60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Need to support 3 update and 1 access operations, all in O(1)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Update -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push_front/middle/back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Access -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break this down, into a structure we are more familiar with?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Split into front/back halves</a:t>
            </a:r>
            <a:endParaRPr/>
          </a:p>
        </p:txBody>
      </p:sp>
      <p:sp>
        <p:nvSpPr>
          <p:cNvPr id="289" name="Google Shape;289;p3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TH2B - Teque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Teque - Two Halves</a:t>
            </a:r>
            <a:endParaRPr/>
          </a:p>
        </p:txBody>
      </p:sp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729450" y="1356675"/>
            <a:ext cx="7688700" cy="13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break this down, into a structure we are more familiar with?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Split into front/back halves</a:t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>
            <a:off x="2956788" y="2786075"/>
            <a:ext cx="13893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1 2 3 4 5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4801513" y="2786075"/>
            <a:ext cx="13893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6 7 8 9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2356750" y="2867350"/>
            <a:ext cx="5352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1899900" y="3402550"/>
            <a:ext cx="1056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push_front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33"/>
          <p:cNvSpPr/>
          <p:nvPr/>
        </p:nvSpPr>
        <p:spPr>
          <a:xfrm flipH="1">
            <a:off x="6229350" y="2867350"/>
            <a:ext cx="5352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6190825" y="3402550"/>
            <a:ext cx="1056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push_back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4515350" y="2963425"/>
            <a:ext cx="114000" cy="535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/>
          <p:nvPr/>
        </p:nvSpPr>
        <p:spPr>
          <a:xfrm>
            <a:off x="4374925" y="2808225"/>
            <a:ext cx="390900" cy="435900"/>
          </a:xfrm>
          <a:prstGeom prst="leftRightArrow">
            <a:avLst>
              <a:gd fmla="val 38965" name="adj1"/>
              <a:gd fmla="val 2647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3"/>
          <p:cNvSpPr txBox="1"/>
          <p:nvPr/>
        </p:nvSpPr>
        <p:spPr>
          <a:xfrm>
            <a:off x="3856512" y="3498625"/>
            <a:ext cx="1434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push_middle</a:t>
            </a:r>
            <a:r>
              <a:rPr b="1" lang="en-GB" u="sng">
                <a:latin typeface="Lato"/>
                <a:ea typeface="Lato"/>
                <a:cs typeface="Lato"/>
                <a:sym typeface="Lato"/>
              </a:rPr>
              <a:t>?</a:t>
            </a:r>
            <a:endParaRPr b="1" u="sng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33"/>
          <p:cNvSpPr txBox="1"/>
          <p:nvPr>
            <p:ph idx="1" type="body"/>
          </p:nvPr>
        </p:nvSpPr>
        <p:spPr>
          <a:xfrm>
            <a:off x="726025" y="4161875"/>
            <a:ext cx="7688700" cy="69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Looks like 2 deques, end-to-end (need O(1) deque get as well)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track the middle position?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TH2B - Teque</a:t>
            </a:r>
            <a:endParaRPr/>
          </a:p>
        </p:txBody>
      </p:sp>
      <p:sp>
        <p:nvSpPr>
          <p:cNvPr id="311" name="Google Shape;311;p34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Pitfall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Java’s Deque uses LinkedList implementation, which means it has </a:t>
            </a:r>
            <a:r>
              <a:rPr lang="en-GB">
                <a:solidFill>
                  <a:srgbClr val="FF0000"/>
                </a:solidFill>
              </a:rPr>
              <a:t>O(n)</a:t>
            </a:r>
            <a:r>
              <a:rPr lang="en-GB"/>
              <a:t> access!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Fun fact: C++’s Deque uses Array implementation :)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Code your Array implementation of Deque!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TH2B - Teque</a:t>
            </a:r>
            <a:endParaRPr/>
          </a:p>
        </p:txBody>
      </p:sp>
      <p:sp>
        <p:nvSpPr>
          <p:cNvPr id="317" name="Google Shape;317;p35"/>
          <p:cNvSpPr txBox="1"/>
          <p:nvPr>
            <p:ph idx="1" type="body"/>
          </p:nvPr>
        </p:nvSpPr>
        <p:spPr>
          <a:xfrm>
            <a:off x="729450" y="1356675"/>
            <a:ext cx="7688700" cy="338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avoid wraparound?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Declare a sufficiently large enough array!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at most N elements enter my deque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start_index and end_index at center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N free slots in front + N free slots behind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Adjust the indexes accordingly as you add/remove elements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Teque - Middle</a:t>
            </a:r>
            <a:endParaRPr/>
          </a:p>
        </p:txBody>
      </p:sp>
      <p:sp>
        <p:nvSpPr>
          <p:cNvPr id="323" name="Google Shape;323;p36"/>
          <p:cNvSpPr txBox="1"/>
          <p:nvPr>
            <p:ph idx="1" type="body"/>
          </p:nvPr>
        </p:nvSpPr>
        <p:spPr>
          <a:xfrm>
            <a:off x="729450" y="1356675"/>
            <a:ext cx="7688700" cy="13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track the middle position?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 u="sng"/>
              <a:t>IDEA</a:t>
            </a:r>
            <a:r>
              <a:rPr lang="en-GB"/>
              <a:t>: Keep halves (almost) “balanced”</a:t>
            </a:r>
            <a:endParaRPr/>
          </a:p>
        </p:txBody>
      </p:sp>
      <p:grpSp>
        <p:nvGrpSpPr>
          <p:cNvPr id="324" name="Google Shape;324;p36"/>
          <p:cNvGrpSpPr/>
          <p:nvPr/>
        </p:nvGrpSpPr>
        <p:grpSpPr>
          <a:xfrm>
            <a:off x="754188" y="2571750"/>
            <a:ext cx="3234025" cy="458100"/>
            <a:chOff x="2956788" y="2786075"/>
            <a:chExt cx="3234025" cy="458100"/>
          </a:xfrm>
        </p:grpSpPr>
        <p:sp>
          <p:nvSpPr>
            <p:cNvPr id="325" name="Google Shape;325;p36"/>
            <p:cNvSpPr/>
            <p:nvPr/>
          </p:nvSpPr>
          <p:spPr>
            <a:xfrm>
              <a:off x="2956788" y="2786075"/>
              <a:ext cx="1389300" cy="4581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1 2 3 4 5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4801513" y="2786075"/>
              <a:ext cx="1389300" cy="4581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6 7 8 9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7" name="Google Shape;327;p36"/>
          <p:cNvGrpSpPr/>
          <p:nvPr/>
        </p:nvGrpSpPr>
        <p:grpSpPr>
          <a:xfrm>
            <a:off x="5208863" y="2571750"/>
            <a:ext cx="3234025" cy="458100"/>
            <a:chOff x="2956788" y="2786075"/>
            <a:chExt cx="3234025" cy="458100"/>
          </a:xfrm>
        </p:grpSpPr>
        <p:sp>
          <p:nvSpPr>
            <p:cNvPr id="328" name="Google Shape;328;p36"/>
            <p:cNvSpPr/>
            <p:nvPr/>
          </p:nvSpPr>
          <p:spPr>
            <a:xfrm>
              <a:off x="2956788" y="2786075"/>
              <a:ext cx="1389300" cy="4581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1 2 3 4 5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4801513" y="2786075"/>
              <a:ext cx="1389300" cy="4581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 u="sng">
                  <a:latin typeface="Consolas"/>
                  <a:ea typeface="Consolas"/>
                  <a:cs typeface="Consolas"/>
                  <a:sym typeface="Consolas"/>
                </a:rPr>
                <a:t>N</a:t>
              </a: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6 7 8 9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0" name="Google Shape;330;p36"/>
          <p:cNvGrpSpPr/>
          <p:nvPr/>
        </p:nvGrpSpPr>
        <p:grpSpPr>
          <a:xfrm>
            <a:off x="754188" y="3357425"/>
            <a:ext cx="3234238" cy="458100"/>
            <a:chOff x="2956788" y="2786075"/>
            <a:chExt cx="3234238" cy="458100"/>
          </a:xfrm>
        </p:grpSpPr>
        <p:sp>
          <p:nvSpPr>
            <p:cNvPr id="331" name="Google Shape;331;p36"/>
            <p:cNvSpPr/>
            <p:nvPr/>
          </p:nvSpPr>
          <p:spPr>
            <a:xfrm>
              <a:off x="2956788" y="2786075"/>
              <a:ext cx="1389300" cy="458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1 2 3 4 5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4616025" y="2786075"/>
              <a:ext cx="1575000" cy="458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6 7 8 9 10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3" name="Google Shape;333;p36"/>
          <p:cNvGrpSpPr/>
          <p:nvPr/>
        </p:nvGrpSpPr>
        <p:grpSpPr>
          <a:xfrm>
            <a:off x="5144625" y="3357425"/>
            <a:ext cx="3273525" cy="458100"/>
            <a:chOff x="2917500" y="2786075"/>
            <a:chExt cx="3273525" cy="458100"/>
          </a:xfrm>
        </p:grpSpPr>
        <p:sp>
          <p:nvSpPr>
            <p:cNvPr id="334" name="Google Shape;334;p36"/>
            <p:cNvSpPr/>
            <p:nvPr/>
          </p:nvSpPr>
          <p:spPr>
            <a:xfrm>
              <a:off x="2917500" y="2786075"/>
              <a:ext cx="1575000" cy="458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1 2 3 4 5 </a:t>
              </a:r>
              <a:r>
                <a:rPr b="1" lang="en-GB" sz="1800" u="sng">
                  <a:latin typeface="Consolas"/>
                  <a:ea typeface="Consolas"/>
                  <a:cs typeface="Consolas"/>
                  <a:sym typeface="Consolas"/>
                </a:rPr>
                <a:t>N</a:t>
              </a:r>
              <a:endParaRPr b="1" sz="1800" u="sng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4616025" y="2786075"/>
              <a:ext cx="1575000" cy="458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onsolas"/>
                  <a:ea typeface="Consolas"/>
                  <a:cs typeface="Consolas"/>
                  <a:sym typeface="Consolas"/>
                </a:rPr>
                <a:t>6 7 8 9 10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36" name="Google Shape;336;p36"/>
          <p:cNvSpPr/>
          <p:nvPr/>
        </p:nvSpPr>
        <p:spPr>
          <a:xfrm>
            <a:off x="4109175" y="2697375"/>
            <a:ext cx="904200" cy="1036800"/>
          </a:xfrm>
          <a:prstGeom prst="rightArrow">
            <a:avLst>
              <a:gd fmla="val 50000" name="adj1"/>
              <a:gd fmla="val 2373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Push </a:t>
            </a:r>
            <a:r>
              <a:rPr b="1" lang="en-GB" u="sng"/>
              <a:t>N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Middle</a:t>
            </a:r>
            <a:endParaRPr/>
          </a:p>
        </p:txBody>
      </p:sp>
      <p:sp>
        <p:nvSpPr>
          <p:cNvPr id="337" name="Google Shape;337;p36"/>
          <p:cNvSpPr txBox="1"/>
          <p:nvPr/>
        </p:nvSpPr>
        <p:spPr>
          <a:xfrm>
            <a:off x="147750" y="2596375"/>
            <a:ext cx="527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Odd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36"/>
          <p:cNvSpPr txBox="1"/>
          <p:nvPr/>
        </p:nvSpPr>
        <p:spPr>
          <a:xfrm>
            <a:off x="147750" y="3385925"/>
            <a:ext cx="581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Even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2568225" y="4081025"/>
            <a:ext cx="4285800" cy="879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latin typeface="Lato"/>
                <a:ea typeface="Lato"/>
                <a:cs typeface="Lato"/>
                <a:sym typeface="Lato"/>
              </a:rPr>
              <a:t>Invariant:</a:t>
            </a:r>
            <a:endParaRPr b="1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RightSize &lt;= LeftSize &lt;= RightSize + 1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(i.e. balanced, and if odd, extra element in left half)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Teque - Maintaining the Invariant</a:t>
            </a:r>
            <a:endParaRPr/>
          </a:p>
        </p:txBody>
      </p:sp>
      <p:sp>
        <p:nvSpPr>
          <p:cNvPr id="345" name="Google Shape;345;p37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Rebalance() (after every push_* operation)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leftSize &gt;= rightSize + 1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S</a:t>
            </a:r>
            <a:r>
              <a:rPr lang="en-GB"/>
              <a:t>hift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left.back</a:t>
            </a:r>
            <a:r>
              <a:rPr lang="en-GB"/>
              <a:t> to </a:t>
            </a:r>
            <a:r>
              <a:rPr lang="en-GB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right.</a:t>
            </a:r>
            <a:r>
              <a:rPr lang="en-GB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front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Else i</a:t>
            </a:r>
            <a:r>
              <a:rPr lang="en-GB"/>
              <a:t>f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leftSize &lt; rightSize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S</a:t>
            </a:r>
            <a:r>
              <a:rPr lang="en-GB"/>
              <a:t>hift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right.front</a:t>
            </a:r>
            <a:r>
              <a:rPr lang="en-GB"/>
              <a:t> to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left.back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2981525" y="3984650"/>
            <a:ext cx="13893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1 2 3 4 5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4826250" y="3984650"/>
            <a:ext cx="13893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6 7 8 9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4399663" y="4006800"/>
            <a:ext cx="390900" cy="435900"/>
          </a:xfrm>
          <a:prstGeom prst="leftRightArrow">
            <a:avLst>
              <a:gd fmla="val 38965" name="adj1"/>
              <a:gd fmla="val 2647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Hashing in Java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Hashing in Java</a:t>
            </a:r>
            <a:endParaRPr/>
          </a:p>
        </p:txBody>
      </p:sp>
      <p:sp>
        <p:nvSpPr>
          <p:cNvPr id="359" name="Google Shape;359;p3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should define your own hash for self-declared classes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GB" sz="1800"/>
              <a:t> defines 2 hashing-related methods, that need to be </a:t>
            </a:r>
            <a:r>
              <a:rPr lang="en-GB" sz="1800"/>
              <a:t>overridden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oolean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equals(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other)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Return true </a:t>
            </a:r>
            <a:r>
              <a:rPr b="1" lang="en-GB" sz="1400"/>
              <a:t>iff</a:t>
            </a:r>
            <a:r>
              <a:rPr lang="en-GB" sz="1400"/>
              <a:t> </a:t>
            </a:r>
            <a:r>
              <a:rPr lang="en-GB" sz="1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 sz="1400"/>
              <a:t> and 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other</a:t>
            </a:r>
            <a:r>
              <a:rPr lang="en-GB" sz="1400"/>
              <a:t> are equal in value</a:t>
            </a:r>
            <a:endParaRPr sz="14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nt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hashCode()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Objects with same value, </a:t>
            </a:r>
            <a:r>
              <a:rPr b="1" lang="en-GB" sz="1400"/>
              <a:t>must</a:t>
            </a:r>
            <a:r>
              <a:rPr lang="en-GB" sz="1400"/>
              <a:t> have same hash code</a:t>
            </a:r>
            <a:endParaRPr sz="1400"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Objects with different value, </a:t>
            </a:r>
            <a:r>
              <a:rPr i="1" lang="en-GB" sz="1400"/>
              <a:t>should</a:t>
            </a:r>
            <a:r>
              <a:rPr lang="en-GB" sz="1400"/>
              <a:t> have different hash codes</a:t>
            </a:r>
            <a:endParaRPr sz="1400"/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Hash collisions are okay, but not ideal</a:t>
            </a:r>
            <a:endParaRPr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729450" y="1356675"/>
            <a:ext cx="7824300" cy="36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write a good hashCode() method?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Should mix in all parts of the object, to contribute to its “value”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Makes hash value dependent on more parts of the value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E.g. for </a:t>
            </a:r>
            <a:r>
              <a:rPr lang="en-GB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Point2D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x, y;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Both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x,y</a:t>
            </a:r>
            <a:r>
              <a:rPr lang="en-GB"/>
              <a:t> should contribute to its hash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How to mix?</a:t>
            </a:r>
            <a:endParaRPr/>
          </a:p>
        </p:txBody>
      </p:sp>
      <p:sp>
        <p:nvSpPr>
          <p:cNvPr id="365" name="Google Shape;365;p40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hashCode()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idx="1" type="body"/>
          </p:nvPr>
        </p:nvSpPr>
        <p:spPr>
          <a:xfrm>
            <a:off x="729450" y="1356675"/>
            <a:ext cx="7824300" cy="36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combine hashes from each part of the whole object?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Theory: Multiply-add</a:t>
            </a:r>
            <a:r>
              <a:rPr lang="en-GB"/>
              <a:t>, Shift-xor-multiply-add-etc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Practice: Java has helper method: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Objects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.hash(...)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Takes in any number of parameters, and combines their hashes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hashCode() { </a:t>
            </a:r>
            <a:r>
              <a:rPr lang="en-GB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Objects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.hash(x, y);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4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Combining Hashes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Hashing Arrays</a:t>
            </a:r>
            <a:endParaRPr/>
          </a:p>
        </p:txBody>
      </p:sp>
      <p:sp>
        <p:nvSpPr>
          <p:cNvPr id="377" name="Google Shape;377;p42"/>
          <p:cNvSpPr txBox="1"/>
          <p:nvPr>
            <p:ph idx="1" type="body"/>
          </p:nvPr>
        </p:nvSpPr>
        <p:spPr>
          <a:xfrm>
            <a:off x="729450" y="1356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Helper class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java.util.Arrays</a:t>
            </a:r>
            <a:r>
              <a:rPr lang="en-GB"/>
              <a:t> has useful methods for hash codes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Have overloads for primitive types as well (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-GB"/>
              <a:t>,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/>
              <a:t>, etc.)</a:t>
            </a:r>
            <a:endParaRPr/>
          </a:p>
        </p:txBody>
      </p:sp>
      <p:graphicFrame>
        <p:nvGraphicFramePr>
          <p:cNvPr id="378" name="Google Shape;378;p42"/>
          <p:cNvGraphicFramePr/>
          <p:nvPr/>
        </p:nvGraphicFramePr>
        <p:xfrm>
          <a:off x="313313" y="226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tatic &lt;T&gt; bool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equals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T[]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left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T[]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right)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Check if two arrays have equal elements in the same order.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O(min(|left|, |right|))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 &lt;T&gt; int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hashCode(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T[]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array)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Computes a hash code for an array, consistent with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above.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Hashing in Java</a:t>
            </a:r>
            <a:endParaRPr/>
          </a:p>
        </p:txBody>
      </p:sp>
      <p:sp>
        <p:nvSpPr>
          <p:cNvPr id="384" name="Google Shape;384;p43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Three different forms of hashtables are provided by Java that we are interested in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onsolas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HashSet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Hashtable</a:t>
            </a:r>
            <a:endParaRPr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Ge</a:t>
            </a:r>
            <a:r>
              <a:rPr lang="en-GB" sz="1800"/>
              <a:t>nerally slower than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800"/>
              <a:t> for the purposes of CS2040S 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HashSet&lt;E&gt;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4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Involves one object that acts both the </a:t>
            </a:r>
            <a:r>
              <a:rPr b="1" lang="en-GB" sz="1800"/>
              <a:t>key</a:t>
            </a:r>
            <a:r>
              <a:rPr lang="en-GB" sz="1800"/>
              <a:t> and the value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i.e. Does this object exist in my set?</a:t>
            </a:r>
            <a:endParaRPr sz="1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 Contract</a:t>
            </a:r>
            <a:endParaRPr/>
          </a:p>
        </p:txBody>
      </p:sp>
      <p:sp>
        <p:nvSpPr>
          <p:cNvPr id="396" name="Google Shape;396;p45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Acts like a (modifiable) set in math</a:t>
            </a:r>
            <a:endParaRPr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No duplicates (at most 1 copy of any value)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Does this set contain this element? (x ∈ S)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Add/remove this item into the set (S ← S ∪ {x}, S </a:t>
            </a:r>
            <a:r>
              <a:rPr b="1" lang="en-GB" sz="1500"/>
              <a:t>←</a:t>
            </a:r>
            <a:r>
              <a:rPr lang="en-GB" sz="1500"/>
              <a:t> S ∖ {x})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Size of set (|S|)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Intersection (∩), Union (∪), Set difference (∖), Containment (⊆)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Order </a:t>
            </a:r>
            <a:r>
              <a:rPr b="1" lang="en-GB" sz="1500"/>
              <a:t>does not matter</a:t>
            </a:r>
            <a:r>
              <a:rPr lang="en-GB" sz="1500"/>
              <a:t> for these set operations!</a:t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HashSet&lt;E&gt; API</a:t>
            </a:r>
            <a:endParaRPr/>
          </a:p>
        </p:txBody>
      </p:sp>
      <p:graphicFrame>
        <p:nvGraphicFramePr>
          <p:cNvPr id="402" name="Google Shape;402;p46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Adds the specified element to this set if it is not already present.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clear()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all of the elements from this set.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set contains the specified element.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(Based off the object’s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method)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isEmpty()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set contains no elements.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remove(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key)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the specified element from this set if it is present.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size()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number of elements in this set (its cardinality).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HashSet&lt;E&gt; Set Operations API</a:t>
            </a:r>
            <a:endParaRPr/>
          </a:p>
        </p:txBody>
      </p:sp>
      <p:graphicFrame>
        <p:nvGraphicFramePr>
          <p:cNvPr id="408" name="Google Shape;408;p47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334400"/>
                <a:gridCol w="5400525"/>
                <a:gridCol w="835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addAll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Collection&lt;E&gt;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other)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Adds all of the elements in the specified collection to this collection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highlight>
                            <a:srgbClr val="F3F3F3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(this ← this ∪ other)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 Returns true if this is modified.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O(|other|)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retainAll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Collection&lt;E&gt;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other)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Retains only the elements in this set that are contained in the specified collection 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highlight>
                            <a:srgbClr val="F3F3F3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(this ← this ∩ other)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 Returns true if this is modified.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O(|other|)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removeAll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Collection&lt;E&gt;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other)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from this set all of its elements that are contained in the specified collection.</a:t>
                      </a:r>
                      <a:b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GB" sz="1100">
                          <a:solidFill>
                            <a:schemeClr val="accent1"/>
                          </a:solidFill>
                          <a:highlight>
                            <a:srgbClr val="F3F3F3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(this ← this \ other)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 Returns true if this is modified.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O(|other|)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All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Collection&lt;E&gt;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other)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set contains all of the elements of the specified collection.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highlight>
                            <a:srgbClr val="F3F3F3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(other ⊆ this)</a:t>
                      </a:r>
                      <a:endParaRPr sz="1100">
                        <a:solidFill>
                          <a:schemeClr val="accent1"/>
                        </a:solidFill>
                        <a:highlight>
                          <a:srgbClr val="F3F3F3"/>
                        </a:highlight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O(|other|)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HashSet&lt;E&gt; Hashing API</a:t>
            </a:r>
            <a:endParaRPr/>
          </a:p>
        </p:txBody>
      </p:sp>
      <p:graphicFrame>
        <p:nvGraphicFramePr>
          <p:cNvPr id="414" name="Google Shape;414;p48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334400"/>
                <a:gridCol w="5400525"/>
                <a:gridCol w="835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equals(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other)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true, if the other object is a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highlight>
                            <a:srgbClr val="F3F3F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containing the same elements.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O(|other|)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hashCode()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a hash representing all elements in this set. If two Sets have the same elements, they are equal and have the same hashCode.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O(|this|)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5" name="Google Shape;415;p48"/>
          <p:cNvSpPr txBox="1"/>
          <p:nvPr/>
        </p:nvSpPr>
        <p:spPr>
          <a:xfrm>
            <a:off x="729450" y="3095850"/>
            <a:ext cx="63135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HashSet itself 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can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be used for the key type of a hash-based collection!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HashSet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if we don’t know the whole object?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Only have a part of it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E.g. only have student ID, not whole student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Given known part, how to find entire object/unknown part?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Involves key-value pair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/>
              <a:t>Key</a:t>
            </a:r>
            <a:r>
              <a:rPr lang="en-GB" sz="1800"/>
              <a:t> is the object that is hashed, then put into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800"/>
              <a:t> depending on its resulting hash code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/>
              <a:t>Value</a:t>
            </a:r>
            <a:r>
              <a:rPr lang="en-GB" sz="1800"/>
              <a:t> is a seperate object that is associated with the key</a:t>
            </a:r>
            <a:endParaRPr sz="1800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 sz="1800"/>
              <a:t>Contents are not considered when computing the hash code of the key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this </a:t>
            </a:r>
            <a:r>
              <a:rPr b="1" lang="en-GB"/>
              <a:t>key</a:t>
            </a:r>
            <a:r>
              <a:rPr lang="en-GB"/>
              <a:t>, what </a:t>
            </a:r>
            <a:r>
              <a:rPr b="1" lang="en-GB"/>
              <a:t>value</a:t>
            </a:r>
            <a:r>
              <a:rPr lang="en-GB"/>
              <a:t> (if any) is associated with it?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Requires more than one generic parameter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To declare a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800"/>
              <a:t> with an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800"/>
              <a:t> as the key, and a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/>
              <a:t> as the value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 map = 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two generic </a:t>
            </a:r>
            <a:r>
              <a:rPr lang="en-GB"/>
              <a:t>parameter</a:t>
            </a:r>
            <a:r>
              <a:rPr lang="en-GB" sz="1800"/>
              <a:t>s used need not be different</a:t>
            </a:r>
            <a:endParaRPr sz="18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 map = 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sz="17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</a:t>
            </a:r>
            <a:r>
              <a:rPr lang="en-GB"/>
              <a:t> API</a:t>
            </a:r>
            <a:endParaRPr/>
          </a:p>
        </p:txBody>
      </p:sp>
      <p:graphicFrame>
        <p:nvGraphicFramePr>
          <p:cNvPr id="439" name="Google Shape;439;p52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get(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key)</a:t>
                      </a:r>
                      <a:endParaRPr b="1"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value to which the specified key is mapped, or null if this map contains no mapping for the key.</a:t>
                      </a:r>
                      <a:endParaRPr b="1"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b="1"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put(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key,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value)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Associates the specified value with the specified key in this map.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(Adds key to the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HashMap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with the value.)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containsKey(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key)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map contains a mapping for the specified key.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(Based off the object’s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method)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containsValue(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value)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map maps one or more keys to the specified value.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(Based off the object’s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method)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b="1"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 API (cont.)</a:t>
            </a:r>
            <a:endParaRPr/>
          </a:p>
        </p:txBody>
      </p:sp>
      <p:graphicFrame>
        <p:nvGraphicFramePr>
          <p:cNvPr id="445" name="Google Shape;445;p53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isEmpty()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map contains no key-value mappings.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remove(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key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the mapping for the specified key from this map if present.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clear()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all of the mappings from this map.</a:t>
                      </a:r>
                      <a:b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(Clears the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HashMap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size()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number of key-value mappings in this map.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 Compute API</a:t>
            </a:r>
            <a:endParaRPr/>
          </a:p>
        </p:txBody>
      </p:sp>
      <p:graphicFrame>
        <p:nvGraphicFramePr>
          <p:cNvPr id="451" name="Google Shape;451;p54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compute(</a:t>
                      </a:r>
                      <a:r>
                        <a:rPr lang="en-GB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​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key,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BiFunction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remappingFunction)</a:t>
                      </a:r>
                      <a:endParaRPr b="1"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Attempts to compute a mapping for the specified key and its current mapped value (or null if there is no current mapping).</a:t>
                      </a:r>
                      <a:endParaRPr b="1"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b="1"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computeIfAbsent(</a:t>
                      </a:r>
                      <a:r>
                        <a:rPr lang="en-GB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​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key,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mappingFunction)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If the specified key is not already associated with a value (or is mapped to null), attempts to compute its value using the given mapping function and enters it into this map unless null.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computeIfPresent(</a:t>
                      </a:r>
                      <a:r>
                        <a:rPr lang="en-GB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​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key,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BiFunction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remappingFunction)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If the value for the specified key is present and non-null, attempts to compute a new mapping given the key and its current mapped value.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If the remapping function returns null, the mapping is removed.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2" name="Google Shape;452;p54"/>
          <p:cNvSpPr txBox="1"/>
          <p:nvPr/>
        </p:nvSpPr>
        <p:spPr>
          <a:xfrm>
            <a:off x="429025" y="4072725"/>
            <a:ext cx="7989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These functions allow you to lookup using a key object.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Then if absent/present, update the map and return the result.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(More generic signatures are in the actual JavaDocs.)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 Compute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5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  <a:solidFill>
            <a:srgbClr val="EFEFE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Each family has their own ArrayList of given names</a:t>
            </a:r>
            <a:endParaRPr sz="14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&gt;&gt; namesByFamily = 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p : people)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namesByFamily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If present, use existing ArrayList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If absent, create a fresh ArrayList and put it in that slot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.computeIfAbsent(p.getFamilyName(),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key -&gt; 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&lt;&gt;())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Now, we have the existing/newly-created ArrayList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	.add(p.getGivenName());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HashMap&lt;K, V&gt; Iteration API</a:t>
            </a:r>
            <a:endParaRPr/>
          </a:p>
        </p:txBody>
      </p:sp>
      <p:graphicFrame>
        <p:nvGraphicFramePr>
          <p:cNvPr id="464" name="Google Shape;464;p56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{5BD10C70-8456-44E1-8FE0-0664574F2B32}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Map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Entry&lt;K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&gt;&gt; entrySet()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a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view of the mappings contained in this map.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keySet()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a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view of the keys contained in this map.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Collection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values()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a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Collection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view of the values contained in this map.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5" name="Google Shape;465;p56"/>
          <p:cNvSpPr txBox="1"/>
          <p:nvPr/>
        </p:nvSpPr>
        <p:spPr>
          <a:xfrm>
            <a:off x="191025" y="3213450"/>
            <a:ext cx="85704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It is not possible to iterate through a HashMap directly (e.g. using for-loop).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You will need to use </a:t>
            </a:r>
            <a:r>
              <a:rPr lang="en-GB" sz="1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entrySet()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GB" sz="1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keySet()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or </a:t>
            </a:r>
            <a:r>
              <a:rPr lang="en-GB" sz="1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values()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to access an iterable form of the data stored within.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7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Given the course combinations of students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Determine how many students are taking any of the most popular combination of courses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(100, 101, 102, 103, 104) – 4 students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(101, 102, 103, 104, 105) – 2 students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(102, 103, 104, 105, 106) – 4 students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Answer should be 4 + 4 = 8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Both </a:t>
            </a:r>
            <a:r>
              <a:rPr lang="en-GB"/>
              <a:t>1st and 3rd courses are tied for most popular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</p:txBody>
      </p:sp>
      <p:sp>
        <p:nvSpPr>
          <p:cNvPr id="477" name="Google Shape;477;p58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</a:t>
            </a:r>
            <a:r>
              <a:rPr lang="en-GB"/>
              <a:t>ourse combinations can be given in different orders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But should be considered as the same course combination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E.g. Sample Input 1</a:t>
            </a:r>
            <a:endParaRPr/>
          </a:p>
        </p:txBody>
      </p:sp>
      <p:grpSp>
        <p:nvGrpSpPr>
          <p:cNvPr id="478" name="Google Shape;478;p58"/>
          <p:cNvGrpSpPr/>
          <p:nvPr/>
        </p:nvGrpSpPr>
        <p:grpSpPr>
          <a:xfrm>
            <a:off x="3240450" y="2958475"/>
            <a:ext cx="5950225" cy="1222500"/>
            <a:chOff x="3240450" y="3187075"/>
            <a:chExt cx="5950225" cy="1222500"/>
          </a:xfrm>
        </p:grpSpPr>
        <p:sp>
          <p:nvSpPr>
            <p:cNvPr id="479" name="Google Shape;479;p58"/>
            <p:cNvSpPr txBox="1"/>
            <p:nvPr/>
          </p:nvSpPr>
          <p:spPr>
            <a:xfrm>
              <a:off x="3240450" y="3187075"/>
              <a:ext cx="2666700" cy="12225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100 101 102 103 488</a:t>
              </a:r>
              <a:endParaRPr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100 200 300 101 102</a:t>
              </a:r>
              <a:endParaRPr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103 102 101 488 100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80" name="Google Shape;480;p58"/>
            <p:cNvSpPr/>
            <p:nvPr/>
          </p:nvSpPr>
          <p:spPr>
            <a:xfrm>
              <a:off x="5858925" y="3578500"/>
              <a:ext cx="468000" cy="234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8"/>
            <p:cNvSpPr/>
            <p:nvPr/>
          </p:nvSpPr>
          <p:spPr>
            <a:xfrm>
              <a:off x="5858925" y="4111900"/>
              <a:ext cx="468000" cy="234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8"/>
            <p:cNvSpPr txBox="1"/>
            <p:nvPr/>
          </p:nvSpPr>
          <p:spPr>
            <a:xfrm>
              <a:off x="6382375" y="3674750"/>
              <a:ext cx="28083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ato"/>
                  <a:ea typeface="Lato"/>
                  <a:cs typeface="Lato"/>
                  <a:sym typeface="Lato"/>
                </a:rPr>
                <a:t>Different ordering,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ato"/>
                  <a:ea typeface="Lato"/>
                  <a:cs typeface="Lato"/>
                  <a:sym typeface="Lato"/>
                </a:rPr>
                <a:t>But same combination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to make different </a:t>
            </a:r>
            <a:r>
              <a:rPr lang="en-GB" u="sng"/>
              <a:t>orderings</a:t>
            </a:r>
            <a:r>
              <a:rPr lang="en-GB"/>
              <a:t> of the same elements “equal”?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How do we make them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equal</a:t>
            </a:r>
            <a:r>
              <a:rPr lang="en-GB"/>
              <a:t> </a:t>
            </a:r>
            <a:r>
              <a:rPr b="1" lang="en-GB"/>
              <a:t>in Java</a:t>
            </a:r>
            <a:r>
              <a:rPr lang="en-GB"/>
              <a:t>?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Is there an existing method/class which does this?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For any course combination, how track number of students?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400 courses =&gt; (</a:t>
            </a:r>
            <a:r>
              <a:rPr baseline="30000" lang="en-GB"/>
              <a:t>4</a:t>
            </a:r>
            <a:r>
              <a:rPr baseline="30000" lang="en-GB"/>
              <a:t>00</a:t>
            </a:r>
            <a:r>
              <a:rPr lang="en-GB"/>
              <a:t>C</a:t>
            </a:r>
            <a:r>
              <a:rPr baseline="-25000" lang="en-GB"/>
              <a:t>5</a:t>
            </a:r>
            <a:r>
              <a:rPr lang="en-GB"/>
              <a:t>) ~= 400^5 choices &gt;&gt; 2^32 possible </a:t>
            </a:r>
            <a:r>
              <a:rPr lang="en-GB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/>
              <a:t> values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Will this affect our runtime/memory use?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How many </a:t>
            </a:r>
            <a:r>
              <a:rPr b="1" lang="en-GB"/>
              <a:t>actual</a:t>
            </a:r>
            <a:r>
              <a:rPr lang="en-GB"/>
              <a:t> combinations can we see?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Is it possible to have hash collisions?</a:t>
            </a:r>
            <a:endParaRPr/>
          </a:p>
        </p:txBody>
      </p:sp>
      <p:sp>
        <p:nvSpPr>
          <p:cNvPr id="488" name="Google Shape;488;p5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 Guidelines</a:t>
            </a:r>
            <a:endParaRPr/>
          </a:p>
        </p:txBody>
      </p:sp>
      <p:sp>
        <p:nvSpPr>
          <p:cNvPr id="494" name="Google Shape;494;p60"/>
          <p:cNvSpPr txBox="1"/>
          <p:nvPr>
            <p:ph idx="1" type="body"/>
          </p:nvPr>
        </p:nvSpPr>
        <p:spPr>
          <a:xfrm>
            <a:off x="729450" y="16891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Include your </a:t>
            </a:r>
            <a:r>
              <a:rPr b="1" lang="en-GB" sz="1800">
                <a:solidFill>
                  <a:srgbClr val="CC4125"/>
                </a:solidFill>
              </a:rPr>
              <a:t>name</a:t>
            </a:r>
            <a:r>
              <a:rPr lang="en-GB" sz="1800"/>
              <a:t> and </a:t>
            </a:r>
            <a:r>
              <a:rPr b="1" lang="en-GB" sz="1800">
                <a:solidFill>
                  <a:srgbClr val="CC4125"/>
                </a:solidFill>
              </a:rPr>
              <a:t>student number</a:t>
            </a:r>
            <a:r>
              <a:rPr lang="en-GB" sz="1800"/>
              <a:t> in comments at the top of your code.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are allowed (and encouraged) to discuss algorithms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List down all your collaborators in your source code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●"/>
            </a:pPr>
            <a:r>
              <a:rPr b="1" lang="en-GB" sz="1800">
                <a:solidFill>
                  <a:srgbClr val="CC4125"/>
                </a:solidFill>
              </a:rPr>
              <a:t>You are NOT allowed to: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Copy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Look at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Use another person’s code as a base for your own code</a:t>
            </a:r>
            <a:endParaRPr b="1" sz="1800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Plagiarism checks will be in place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