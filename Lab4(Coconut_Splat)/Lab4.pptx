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Raleway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E90DC6-36B3-4699-A4D6-A1FE708057B2}">
  <a:tblStyle styleId="{D0E90DC6-36B3-4699-A4D6-A1FE708057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aleway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aleway-italic.fntdata"/><Relationship Id="rId12" Type="http://schemas.openxmlformats.org/officeDocument/2006/relationships/slide" Target="slides/slide6.xml"/><Relationship Id="rId34" Type="http://schemas.openxmlformats.org/officeDocument/2006/relationships/font" Target="fonts/Raleway-bold.fntdata"/><Relationship Id="rId15" Type="http://schemas.openxmlformats.org/officeDocument/2006/relationships/slide" Target="slides/slide9.xml"/><Relationship Id="rId37" Type="http://schemas.openxmlformats.org/officeDocument/2006/relationships/font" Target="fonts/Lato-regular.fntdata"/><Relationship Id="rId14" Type="http://schemas.openxmlformats.org/officeDocument/2006/relationships/slide" Target="slides/slide8.xml"/><Relationship Id="rId36" Type="http://schemas.openxmlformats.org/officeDocument/2006/relationships/font" Target="fonts/Raleway-boldItalic.fntdata"/><Relationship Id="rId17" Type="http://schemas.openxmlformats.org/officeDocument/2006/relationships/slide" Target="slides/slide11.xml"/><Relationship Id="rId39" Type="http://schemas.openxmlformats.org/officeDocument/2006/relationships/font" Target="fonts/Lato-italic.fntdata"/><Relationship Id="rId16" Type="http://schemas.openxmlformats.org/officeDocument/2006/relationships/slide" Target="slides/slide10.xml"/><Relationship Id="rId38" Type="http://schemas.openxmlformats.org/officeDocument/2006/relationships/font" Target="fonts/Lat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bca0db9d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8bca0db9d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8b4b67c6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8b4b67c6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bca0db9d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8bca0db9d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8bca0db9d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8bca0db9d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bca0db9d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8bca0db9d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8bca0db9d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8bca0db9d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8bca0db9d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8bca0db9d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bca0db9d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8bca0db9d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822e9f90d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822e9f90d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8bca0db9d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8bca0db9d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8bca0db9d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8bca0db9d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8bca0db9d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8bca0db9d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8bca0db9d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8bca0db9d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8bca0db9d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8bca0db9d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8b4b42b91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8b4b42b91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8b4b42b91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8b4b42b91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8bca0db9d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8bca0db9d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8bca0db9d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8bca0db9d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8bca0db9d0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8bca0db9d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8bca0db9d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8bca0db9d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8bca0db9d0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8bca0db9d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8bca0db9d0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8bca0db9d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8bca0db9d0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8bca0db9d0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8bca0db9d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8bca0db9d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8adb5d3044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8adb5d3044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 4 - List ADT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CS2040S Data Structures &amp; Algorithms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AY20/21 Semester I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 Day 2</a:t>
            </a:r>
            <a:r>
              <a:rPr lang="en-GB"/>
              <a:t> - Sort of Sorting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Need to use stable sort, which 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Arrays.sort()</a:t>
            </a:r>
            <a:r>
              <a:rPr lang="en-GB" sz="1800"/>
              <a:t> or 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Collections.sort()</a:t>
            </a:r>
            <a:r>
              <a:rPr lang="en-GB" sz="1800"/>
              <a:t> provides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Write a custom comparator to compare by first 2 characters instead of the entire string</a:t>
            </a:r>
            <a:endParaRPr sz="18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int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compare (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a, 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b) {</a:t>
            </a:r>
            <a:br>
              <a:rPr lang="en-GB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a.substr(0, 2).compareTo(b.substr(0, 2));</a:t>
            </a:r>
            <a:br>
              <a:rPr lang="en-GB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 Day 2</a:t>
            </a:r>
            <a:r>
              <a:rPr lang="en-GB"/>
              <a:t> - Sort of Sorting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Or, just d</a:t>
            </a:r>
            <a:r>
              <a:rPr lang="en-GB" sz="1800"/>
              <a:t>efine custom Comparator, using extractor API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Collections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.sort(list,</a:t>
            </a:r>
            <a:br>
              <a:rPr lang="en-GB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   Comparator.comparing(name -&gt; name.substring(0,2))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ake-home Lab 1A - Train Passengers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Keep track of: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Current number of passengers on the train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Capacity of the train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Take-home Lab 1A - Train Passengers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At each station except the last: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Subtract passengers that got off the train. If train carries &lt; 0 passengers, output impossible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Add passengers that got on the train. If train carries &gt; capacity, output impossible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If number of passengers != capacity and passengers waited, output impossible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Take-home Lab 1A - Train Passengers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At last station: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If passengers getting off != current passengers on train, output impossible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If passengers got on, or waited at the station, output impossible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After last station: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If any passengers remain, output impossible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Take-home Lab 1B - Best Relay Team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Use a class to represent a Runner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Store first-leg timing, subsequent-leg timing, name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Use 2 arrays to store the Runners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Sort one array by first-leg timing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Sort other array by subsequent-leg timing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For the first 4 runners in first-leg timing</a:t>
            </a:r>
            <a:r>
              <a:rPr lang="en-GB" sz="1800"/>
              <a:t>, </a:t>
            </a:r>
            <a:r>
              <a:rPr lang="en-GB" sz="1800"/>
              <a:t>pick the first 3 runners (that is not the first runner)  from the subsequent-leg timing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Output the team that gives the best timing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Generics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Most Java API usage from this lab onwards uses generics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Defines the data type being used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String[]</a:t>
            </a:r>
            <a:r>
              <a:rPr lang="en-GB" sz="1800"/>
              <a:t> and 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ArrayList&lt;String&gt;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Student[]</a:t>
            </a:r>
            <a:r>
              <a:rPr lang="en-GB" sz="1800"/>
              <a:t> and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ArrayList&lt;Student&gt;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Primitive data types cannot be used as generics, but you can use their relevant Java classes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ArrayList&lt;Integer&gt;</a:t>
            </a:r>
            <a:r>
              <a:rPr lang="en-GB" sz="1800"/>
              <a:t>, 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ArrayList&lt;Double&gt;</a:t>
            </a:r>
            <a:r>
              <a:rPr lang="en-GB" sz="1800"/>
              <a:t> etc.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Lists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Mainly use 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ArrayList</a:t>
            </a:r>
            <a:r>
              <a:rPr lang="en-GB" sz="1800"/>
              <a:t> and 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LinkedList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Take note of the difference in runtime for each operation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E.g. 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ArrayList</a:t>
            </a:r>
            <a:r>
              <a:rPr lang="en-GB" sz="1800"/>
              <a:t> offers O(1) time to access any element in the list via index, while 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LinkedList</a:t>
            </a:r>
            <a:r>
              <a:rPr lang="en-GB" sz="1800"/>
              <a:t> offers O(1) time to access elements at the front and back only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ArrayList&lt;E&gt;</a:t>
            </a:r>
            <a:r>
              <a:rPr lang="en-GB"/>
              <a:t> API</a:t>
            </a:r>
            <a:endParaRPr/>
          </a:p>
        </p:txBody>
      </p:sp>
      <p:graphicFrame>
        <p:nvGraphicFramePr>
          <p:cNvPr id="141" name="Google Shape;141;p22"/>
          <p:cNvGraphicFramePr/>
          <p:nvPr/>
        </p:nvGraphicFramePr>
        <p:xfrm>
          <a:off x="303175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{D0E90DC6-36B3-4699-A4D6-A1FE708057B2}</a:tableStyleId>
              </a:tblPr>
              <a:tblGrid>
                <a:gridCol w="2213550"/>
                <a:gridCol w="4064675"/>
                <a:gridCol w="2292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 Signature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Runtime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add(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Appends the specified element to the end of this list.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add(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index, 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element)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Inserts the specified element at the specified position in this list.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size()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-index)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clear()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all of the elements from this list.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O(N)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contains(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Object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o)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true if this list contains the specified element.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(Based off the object’s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equals()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method)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O(N)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get(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index)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the element at the specified position in this list.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remove(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index)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the element at the specified position in this list.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size()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-index)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size()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the number of elements in this list.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Linked</a:t>
            </a:r>
            <a:r>
              <a:rPr lang="en-GB"/>
              <a:t>List&lt;E&gt; API</a:t>
            </a:r>
            <a:endParaRPr/>
          </a:p>
        </p:txBody>
      </p:sp>
      <p:graphicFrame>
        <p:nvGraphicFramePr>
          <p:cNvPr id="147" name="Google Shape;147;p23"/>
          <p:cNvGraphicFramePr/>
          <p:nvPr/>
        </p:nvGraphicFramePr>
        <p:xfrm>
          <a:off x="303175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{D0E90DC6-36B3-4699-A4D6-A1FE708057B2}</a:tableStyleId>
              </a:tblPr>
              <a:tblGrid>
                <a:gridCol w="2079125"/>
                <a:gridCol w="4256800"/>
                <a:gridCol w="2234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 Signature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Runtime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add(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e)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Appends the specified element to the end of this list.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add(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index, 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element)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Inserts the specified element at the specified position in this list.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min(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size()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-index),  O(index),)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clear()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all of the elements from this list.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O(N)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contains(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Object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o)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true if this list contains the specified element.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(Based off the object’s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equals()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method)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O(N)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get(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index)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the element at the specified position in this list.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min(O(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size()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-index),  O(index),)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remove(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index)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the element at the specified position in this list.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min(O(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size()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-index),  O(index),)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size()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the number of elements in this list.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Stacks &amp; Queues</a:t>
            </a:r>
            <a:endParaRPr/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Stacks allow inserting, accessing and deleting from top of the stack in O(1) time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FILO (First-in, Last-out)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Queues allow accessing and deleting from front of queue, and inserting from back of queue in O(1) time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FIFO (First-in, first-out)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Stacks &amp; Queues</a:t>
            </a:r>
            <a:endParaRPr/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Stack is a Java class, can instantiate directly</a:t>
            </a:r>
            <a:endParaRPr sz="18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Consolas"/>
              <a:buChar char="○"/>
            </a:pPr>
            <a:r>
              <a:rPr lang="en-GB" sz="17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Stack&lt;YourClass&gt;</a:t>
            </a:r>
            <a:r>
              <a:rPr lang="en-GB" sz="1700">
                <a:latin typeface="Consolas"/>
                <a:ea typeface="Consolas"/>
                <a:cs typeface="Consolas"/>
                <a:sym typeface="Consolas"/>
              </a:rPr>
              <a:t> stack = </a:t>
            </a:r>
            <a:r>
              <a:rPr lang="en-GB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GB" sz="17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7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Stack&lt;YourClass&gt;</a:t>
            </a:r>
            <a:r>
              <a:rPr lang="en-GB" sz="1700"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Queue is a Java interface, cannot instantiate directly</a:t>
            </a:r>
            <a:endParaRPr sz="18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Queue&lt;YourClass&gt;</a:t>
            </a:r>
            <a:r>
              <a:rPr lang="en-GB" sz="1700">
                <a:latin typeface="Consolas"/>
                <a:ea typeface="Consolas"/>
                <a:cs typeface="Consolas"/>
                <a:sym typeface="Consolas"/>
              </a:rPr>
              <a:t> queue = </a:t>
            </a:r>
            <a:r>
              <a:rPr lang="en-GB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GB" sz="17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7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LinkedList&lt;YourClass&gt;</a:t>
            </a:r>
            <a:r>
              <a:rPr lang="en-GB" sz="1700"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Stack</a:t>
            </a:r>
            <a:r>
              <a:rPr lang="en-GB"/>
              <a:t>&lt;E&gt; API</a:t>
            </a:r>
            <a:endParaRPr/>
          </a:p>
        </p:txBody>
      </p:sp>
      <p:graphicFrame>
        <p:nvGraphicFramePr>
          <p:cNvPr id="165" name="Google Shape;165;p26"/>
          <p:cNvGraphicFramePr/>
          <p:nvPr/>
        </p:nvGraphicFramePr>
        <p:xfrm>
          <a:off x="303175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{D0E90DC6-36B3-4699-A4D6-A1FE708057B2}</a:tableStyleId>
              </a:tblPr>
              <a:tblGrid>
                <a:gridCol w="2079125"/>
                <a:gridCol w="4256800"/>
                <a:gridCol w="2234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 Signature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Runtime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empty()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Tests if this stack is empty.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peek()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Looks at the object at the top of this stack without removing it from the stack.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pop()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Removes the object at the top of this stack and returns that object as the value of this function.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push(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item)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Pushes an item onto the top of this stack.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6" name="Google Shape;166;p26"/>
          <p:cNvGraphicFramePr/>
          <p:nvPr/>
        </p:nvGraphicFramePr>
        <p:xfrm>
          <a:off x="4914500" y="70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{D0E90DC6-36B3-4699-A4D6-A1FE708057B2}</a:tableStyleId>
              </a:tblPr>
              <a:tblGrid>
                <a:gridCol w="609200"/>
                <a:gridCol w="609200"/>
                <a:gridCol w="609200"/>
                <a:gridCol w="609200"/>
                <a:gridCol w="532275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167" name="Google Shape;167;p26"/>
          <p:cNvSpPr/>
          <p:nvPr/>
        </p:nvSpPr>
        <p:spPr>
          <a:xfrm flipH="1" rot="5400000">
            <a:off x="7527850" y="417425"/>
            <a:ext cx="282900" cy="535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6"/>
          <p:cNvSpPr txBox="1"/>
          <p:nvPr/>
        </p:nvSpPr>
        <p:spPr>
          <a:xfrm>
            <a:off x="7980550" y="543575"/>
            <a:ext cx="6510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pop()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26"/>
          <p:cNvSpPr/>
          <p:nvPr/>
        </p:nvSpPr>
        <p:spPr>
          <a:xfrm flipH="1">
            <a:off x="7376800" y="958425"/>
            <a:ext cx="535200" cy="338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6"/>
          <p:cNvSpPr txBox="1"/>
          <p:nvPr/>
        </p:nvSpPr>
        <p:spPr>
          <a:xfrm>
            <a:off x="7980550" y="885150"/>
            <a:ext cx="7005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push()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Queue</a:t>
            </a:r>
            <a:r>
              <a:rPr lang="en-GB"/>
              <a:t>&lt;E&gt; API (if using LinkedList)</a:t>
            </a:r>
            <a:endParaRPr/>
          </a:p>
        </p:txBody>
      </p:sp>
      <p:graphicFrame>
        <p:nvGraphicFramePr>
          <p:cNvPr id="176" name="Google Shape;176;p27"/>
          <p:cNvGraphicFramePr/>
          <p:nvPr/>
        </p:nvGraphicFramePr>
        <p:xfrm>
          <a:off x="303175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{D0E90DC6-36B3-4699-A4D6-A1FE708057B2}</a:tableStyleId>
              </a:tblPr>
              <a:tblGrid>
                <a:gridCol w="2079125"/>
                <a:gridCol w="4256800"/>
                <a:gridCol w="2234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 Signature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Runtime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isEmpty()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true if this collection contains no elements.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peek()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Retrieves, but does not remove, the head of this queue, or returns null if this queue is empty.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poll()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Retrieves and removes the head of this queue, or returns null if this queue is empty.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offer(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Inserts the specified element into this queue if it is possible to do so immediately without violating capacity restrictions.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27"/>
          <p:cNvGraphicFramePr/>
          <p:nvPr/>
        </p:nvGraphicFramePr>
        <p:xfrm>
          <a:off x="5107100" y="417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{D0E90DC6-36B3-4699-A4D6-A1FE708057B2}</a:tableStyleId>
              </a:tblPr>
              <a:tblGrid>
                <a:gridCol w="609200"/>
                <a:gridCol w="609200"/>
                <a:gridCol w="609200"/>
                <a:gridCol w="6092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178" name="Google Shape;178;p27"/>
          <p:cNvSpPr/>
          <p:nvPr/>
        </p:nvSpPr>
        <p:spPr>
          <a:xfrm rot="-5400000">
            <a:off x="4655700" y="4050000"/>
            <a:ext cx="282900" cy="535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7"/>
          <p:cNvSpPr txBox="1"/>
          <p:nvPr/>
        </p:nvSpPr>
        <p:spPr>
          <a:xfrm>
            <a:off x="3793750" y="4017375"/>
            <a:ext cx="6510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poll</a:t>
            </a:r>
            <a:r>
              <a:rPr lang="en-GB">
                <a:latin typeface="Lato"/>
                <a:ea typeface="Lato"/>
                <a:cs typeface="Lato"/>
                <a:sym typeface="Lato"/>
              </a:rPr>
              <a:t>()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27"/>
          <p:cNvSpPr/>
          <p:nvPr/>
        </p:nvSpPr>
        <p:spPr>
          <a:xfrm flipH="1">
            <a:off x="7543900" y="4300275"/>
            <a:ext cx="535200" cy="338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7"/>
          <p:cNvSpPr txBox="1"/>
          <p:nvPr/>
        </p:nvSpPr>
        <p:spPr>
          <a:xfrm>
            <a:off x="8173150" y="4358950"/>
            <a:ext cx="7005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offer</a:t>
            </a:r>
            <a:r>
              <a:rPr lang="en-GB">
                <a:latin typeface="Lato"/>
                <a:ea typeface="Lato"/>
                <a:cs typeface="Lato"/>
                <a:sym typeface="Lato"/>
              </a:rPr>
              <a:t>()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Stack + Queue = Deque</a:t>
            </a:r>
            <a:endParaRPr/>
          </a:p>
        </p:txBody>
      </p:sp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Deque = “Double-ended queue”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Can add/remove from both ends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Deq</a:t>
            </a:r>
            <a:r>
              <a:rPr lang="en-GB" sz="1800"/>
              <a:t>ue is a Java interface, cannot instantiate directly</a:t>
            </a:r>
            <a:endParaRPr sz="18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GB" sz="17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Deq</a:t>
            </a:r>
            <a:r>
              <a:rPr lang="en-GB" sz="17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ue&lt;YourClass&gt;</a:t>
            </a:r>
            <a:r>
              <a:rPr lang="en-GB" sz="1700">
                <a:latin typeface="Consolas"/>
                <a:ea typeface="Consolas"/>
                <a:cs typeface="Consolas"/>
                <a:sym typeface="Consolas"/>
              </a:rPr>
              <a:t> queue = </a:t>
            </a:r>
            <a:r>
              <a:rPr lang="en-GB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GB" sz="17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7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LinkedList&lt;YourClass&gt;</a:t>
            </a:r>
            <a:r>
              <a:rPr lang="en-GB" sz="1700"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7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Deque&lt;YourClass&gt;</a:t>
            </a:r>
            <a:r>
              <a:rPr lang="en-GB" sz="1700">
                <a:latin typeface="Consolas"/>
                <a:ea typeface="Consolas"/>
                <a:cs typeface="Consolas"/>
                <a:sym typeface="Consolas"/>
              </a:rPr>
              <a:t> queue = </a:t>
            </a:r>
            <a:r>
              <a:rPr lang="en-GB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-GB" sz="17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GB" sz="17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ArrayDeque&lt;YourClass&gt;</a:t>
            </a:r>
            <a:r>
              <a:rPr lang="en-GB" sz="1700"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-GB" sz="1700"/>
              <a:t>Faster than LinkedList or Stack!</a:t>
            </a:r>
            <a:endParaRPr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Deq</a:t>
            </a:r>
            <a:r>
              <a:rPr lang="en-GB"/>
              <a:t>ue&lt;E&gt; API</a:t>
            </a:r>
            <a:endParaRPr/>
          </a:p>
        </p:txBody>
      </p:sp>
      <p:graphicFrame>
        <p:nvGraphicFramePr>
          <p:cNvPr id="193" name="Google Shape;193;p29"/>
          <p:cNvGraphicFramePr/>
          <p:nvPr/>
        </p:nvGraphicFramePr>
        <p:xfrm>
          <a:off x="303175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{D0E90DC6-36B3-4699-A4D6-A1FE708057B2}</a:tableStyleId>
              </a:tblPr>
              <a:tblGrid>
                <a:gridCol w="2560200"/>
                <a:gridCol w="3775725"/>
                <a:gridCol w="2234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Method Signature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lt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Runtime</a:t>
                      </a:r>
                      <a:endParaRPr b="1" sz="1100">
                        <a:solidFill>
                          <a:schemeClr val="lt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isEmpty()</a:t>
                      </a:r>
                      <a:endParaRPr sz="110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Returns true if this collection contains no elements.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peek[First|Last]()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Retrieves, but does not remove, the [head|tail] of this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deque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, or returns null if this deque is empty.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poll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[First|Last]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Retrieves and removes the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[head|tail]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of this deque, or returns null if this deque is empty.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offer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[First|Last]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GB" sz="1100">
                          <a:solidFill>
                            <a:schemeClr val="accent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e)</a:t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accent3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Inserts the specified element at the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[head|tail] of </a:t>
                      </a: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this deque if it is possible to do so immediately without violating capacity restrictions.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accen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 sz="1100">
                        <a:solidFill>
                          <a:schemeClr val="accen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4" name="Google Shape;194;p29"/>
          <p:cNvGraphicFramePr/>
          <p:nvPr/>
        </p:nvGraphicFramePr>
        <p:xfrm>
          <a:off x="5107100" y="74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{D0E90DC6-36B3-4699-A4D6-A1FE708057B2}</a:tableStyleId>
              </a:tblPr>
              <a:tblGrid>
                <a:gridCol w="609200"/>
                <a:gridCol w="609200"/>
                <a:gridCol w="609200"/>
                <a:gridCol w="6092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195" name="Google Shape;195;p29"/>
          <p:cNvSpPr/>
          <p:nvPr/>
        </p:nvSpPr>
        <p:spPr>
          <a:xfrm flipH="1" rot="5400000">
            <a:off x="7756450" y="417425"/>
            <a:ext cx="282900" cy="535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9"/>
          <p:cNvSpPr txBox="1"/>
          <p:nvPr/>
        </p:nvSpPr>
        <p:spPr>
          <a:xfrm>
            <a:off x="8209150" y="543575"/>
            <a:ext cx="934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popLast()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29"/>
          <p:cNvSpPr/>
          <p:nvPr/>
        </p:nvSpPr>
        <p:spPr>
          <a:xfrm flipH="1">
            <a:off x="7605400" y="958425"/>
            <a:ext cx="535200" cy="338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9"/>
          <p:cNvSpPr txBox="1"/>
          <p:nvPr/>
        </p:nvSpPr>
        <p:spPr>
          <a:xfrm>
            <a:off x="8123650" y="885150"/>
            <a:ext cx="1020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offerLast</a:t>
            </a:r>
            <a:r>
              <a:rPr lang="en-GB">
                <a:latin typeface="Lato"/>
                <a:ea typeface="Lato"/>
                <a:cs typeface="Lato"/>
                <a:sym typeface="Lato"/>
              </a:rPr>
              <a:t>()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29"/>
          <p:cNvSpPr/>
          <p:nvPr/>
        </p:nvSpPr>
        <p:spPr>
          <a:xfrm rot="-5400000">
            <a:off x="4635625" y="442325"/>
            <a:ext cx="282900" cy="535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9"/>
          <p:cNvSpPr txBox="1"/>
          <p:nvPr/>
        </p:nvSpPr>
        <p:spPr>
          <a:xfrm flipH="1">
            <a:off x="3445525" y="568475"/>
            <a:ext cx="1020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pollFirst()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29"/>
          <p:cNvSpPr/>
          <p:nvPr/>
        </p:nvSpPr>
        <p:spPr>
          <a:xfrm>
            <a:off x="4534375" y="983325"/>
            <a:ext cx="535200" cy="338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9"/>
          <p:cNvSpPr txBox="1"/>
          <p:nvPr/>
        </p:nvSpPr>
        <p:spPr>
          <a:xfrm flipH="1">
            <a:off x="3318025" y="910050"/>
            <a:ext cx="11478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offerFirst</a:t>
            </a:r>
            <a:r>
              <a:rPr lang="en-GB">
                <a:latin typeface="Lato"/>
                <a:ea typeface="Lato"/>
                <a:cs typeface="Lato"/>
                <a:sym typeface="Lato"/>
              </a:rPr>
              <a:t>()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3B Take Home - Join Strings</a:t>
            </a:r>
            <a:endParaRPr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Given a list of strings, concatenate them together, and output the final string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Concatenating strings (via 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concat</a:t>
            </a:r>
            <a:r>
              <a:rPr lang="en-GB" sz="1800"/>
              <a:t> or 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GB" sz="1800"/>
              <a:t> operator) takes O(k) time, where k = length of resultant string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Using 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StringBuilder</a:t>
            </a:r>
            <a:r>
              <a:rPr lang="en-GB" sz="1800"/>
              <a:t>/</a:t>
            </a:r>
            <a:r>
              <a:rPr lang="en-GB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StringBuffer</a:t>
            </a:r>
            <a:r>
              <a:rPr lang="en-GB" sz="1800"/>
              <a:t>’s 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append()</a:t>
            </a:r>
            <a:r>
              <a:rPr lang="en-GB" sz="1800"/>
              <a:t> method is slightly better, but may be too slow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Need to find a way to do so in O(1) time when handling queries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3B Take Home - Teque</a:t>
            </a:r>
            <a:endParaRPr/>
          </a:p>
        </p:txBody>
      </p:sp>
      <p:sp>
        <p:nvSpPr>
          <p:cNvPr id="214" name="Google Shape;214;p31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Create a </a:t>
            </a:r>
            <a:r>
              <a:rPr b="1" lang="en-GB" sz="1800"/>
              <a:t>custom </a:t>
            </a:r>
            <a:r>
              <a:rPr lang="en-GB" sz="1800"/>
              <a:t>data structure to support O(1) operations: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ush_back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ush_front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ush_middle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get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■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Random access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15" name="Google Shape;215;p31"/>
          <p:cNvGraphicFramePr/>
          <p:nvPr/>
        </p:nvGraphicFramePr>
        <p:xfrm>
          <a:off x="5107150" y="344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{D0E90DC6-36B3-4699-A4D6-A1FE708057B2}</a:tableStyleId>
              </a:tblPr>
              <a:tblGrid>
                <a:gridCol w="609200"/>
                <a:gridCol w="609200"/>
                <a:gridCol w="609200"/>
                <a:gridCol w="60920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216" name="Google Shape;216;p31"/>
          <p:cNvSpPr/>
          <p:nvPr/>
        </p:nvSpPr>
        <p:spPr>
          <a:xfrm flipH="1">
            <a:off x="7605450" y="3661050"/>
            <a:ext cx="535200" cy="338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1"/>
          <p:cNvSpPr txBox="1"/>
          <p:nvPr/>
        </p:nvSpPr>
        <p:spPr>
          <a:xfrm>
            <a:off x="7965525" y="3920300"/>
            <a:ext cx="10203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push_back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8" name="Google Shape;218;p31"/>
          <p:cNvSpPr/>
          <p:nvPr/>
        </p:nvSpPr>
        <p:spPr>
          <a:xfrm rot="-5400000">
            <a:off x="6376125" y="3744525"/>
            <a:ext cx="282900" cy="535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1"/>
          <p:cNvSpPr/>
          <p:nvPr/>
        </p:nvSpPr>
        <p:spPr>
          <a:xfrm>
            <a:off x="4534425" y="3685950"/>
            <a:ext cx="535200" cy="338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1"/>
          <p:cNvSpPr txBox="1"/>
          <p:nvPr/>
        </p:nvSpPr>
        <p:spPr>
          <a:xfrm>
            <a:off x="4225400" y="3969825"/>
            <a:ext cx="10809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push_front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1" name="Google Shape;221;p31"/>
          <p:cNvSpPr txBox="1"/>
          <p:nvPr/>
        </p:nvSpPr>
        <p:spPr>
          <a:xfrm>
            <a:off x="6733750" y="3869150"/>
            <a:ext cx="11832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push_middle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One-day 3</a:t>
            </a:r>
            <a:r>
              <a:rPr lang="en-GB"/>
              <a:t> - Coconut Splat</a:t>
            </a:r>
            <a:endParaRPr/>
          </a:p>
        </p:txBody>
      </p:sp>
      <p:sp>
        <p:nvSpPr>
          <p:cNvPr id="227" name="Google Shape;227;p32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Simulate a counting-out game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 player’s hand has 4 possible states</a:t>
            </a:r>
            <a:endParaRPr sz="18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Both hands folded together (initial state)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Fist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Palm down</a:t>
            </a:r>
            <a:endParaRPr sz="1400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/>
              <a:t>Behind back</a:t>
            </a:r>
            <a:endParaRPr sz="14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 player’s hand moves from state n to state (n+1) if hand is touched last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A player is out of the game if both hands are behind the back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Find out which player will be the last player standing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One-day 3</a:t>
            </a:r>
            <a:r>
              <a:rPr lang="en-GB"/>
              <a:t> - Coconut Splat</a:t>
            </a:r>
            <a:endParaRPr/>
          </a:p>
        </p:txBody>
      </p:sp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State 1 (Folded)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Counts as a set of hands instead of two individual hands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State 1 (Folded) → State 2 (Fist)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Split folded hands into 2 fists, counting begins from the first fist on the next round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State 2 (Fist) → State 3 (Palm Down)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Change fist into palm down, counting begins with next hand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State 3 (Palm Down) → State 4 (Behind Back)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Hand is no longer in play, counting begins with next hand</a:t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3B One-day - Coconut Splat</a:t>
            </a:r>
            <a:endParaRPr/>
          </a:p>
        </p:txBody>
      </p:sp>
      <p:sp>
        <p:nvSpPr>
          <p:cNvPr id="239" name="Google Shape;239;p34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Following slides contain example of the game simulated for 3 players with 3 syllables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Input: 3 3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Output: 2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113" y="628350"/>
            <a:ext cx="7343775" cy="437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688" y="642775"/>
            <a:ext cx="7286625" cy="436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 3B One-day - Coconut Splat</a:t>
            </a:r>
            <a:endParaRPr/>
          </a:p>
        </p:txBody>
      </p:sp>
      <p:sp>
        <p:nvSpPr>
          <p:cNvPr id="255" name="Google Shape;255;p37"/>
          <p:cNvSpPr txBox="1"/>
          <p:nvPr>
            <p:ph idx="1" type="body"/>
          </p:nvPr>
        </p:nvSpPr>
        <p:spPr>
          <a:xfrm>
            <a:off x="729450" y="15367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Plan first before coding!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If you code without planning, and if you are not using a debugger, it is very difficult to find bugs</a:t>
            </a: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>
            <p:ph type="title"/>
          </p:nvPr>
        </p:nvSpPr>
        <p:spPr>
          <a:xfrm>
            <a:off x="729450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Assignment Guidelines</a:t>
            </a:r>
            <a:endParaRPr/>
          </a:p>
        </p:txBody>
      </p:sp>
      <p:sp>
        <p:nvSpPr>
          <p:cNvPr id="261" name="Google Shape;261;p38"/>
          <p:cNvSpPr txBox="1"/>
          <p:nvPr>
            <p:ph idx="1" type="body"/>
          </p:nvPr>
        </p:nvSpPr>
        <p:spPr>
          <a:xfrm>
            <a:off x="729450" y="1689175"/>
            <a:ext cx="7688700" cy="325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Include your </a:t>
            </a:r>
            <a:r>
              <a:rPr b="1" lang="en-GB" sz="1800">
                <a:solidFill>
                  <a:srgbClr val="CC4125"/>
                </a:solidFill>
              </a:rPr>
              <a:t>name</a:t>
            </a:r>
            <a:r>
              <a:rPr lang="en-GB" sz="1800"/>
              <a:t> and </a:t>
            </a:r>
            <a:r>
              <a:rPr b="1" lang="en-GB" sz="1800">
                <a:solidFill>
                  <a:srgbClr val="CC4125"/>
                </a:solidFill>
              </a:rPr>
              <a:t>student number</a:t>
            </a:r>
            <a:r>
              <a:rPr lang="en-GB" sz="1800"/>
              <a:t> in comments at the top of your code.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You are allowed (and encouraged) to discuss algorithms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List down all your collaborators in your source code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800"/>
              <a:buChar char="●"/>
            </a:pPr>
            <a:r>
              <a:rPr b="1" lang="en-GB" sz="1800">
                <a:solidFill>
                  <a:srgbClr val="CC4125"/>
                </a:solidFill>
              </a:rPr>
              <a:t>You are NOT allowed to:</a:t>
            </a:r>
            <a:endParaRPr b="1" sz="1800">
              <a:solidFill>
                <a:srgbClr val="CC4125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800"/>
              <a:buChar char="○"/>
            </a:pPr>
            <a:r>
              <a:rPr b="1" lang="en-GB" sz="1800">
                <a:solidFill>
                  <a:srgbClr val="CC4125"/>
                </a:solidFill>
              </a:rPr>
              <a:t>Copy another person’s code</a:t>
            </a:r>
            <a:endParaRPr b="1" sz="1800">
              <a:solidFill>
                <a:srgbClr val="CC4125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800"/>
              <a:buChar char="○"/>
            </a:pPr>
            <a:r>
              <a:rPr b="1" lang="en-GB" sz="1800">
                <a:solidFill>
                  <a:srgbClr val="CC4125"/>
                </a:solidFill>
              </a:rPr>
              <a:t>Look at another person’s code</a:t>
            </a:r>
            <a:endParaRPr b="1" sz="1800">
              <a:solidFill>
                <a:srgbClr val="CC4125"/>
              </a:solidFill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800"/>
              <a:buChar char="○"/>
            </a:pPr>
            <a:r>
              <a:rPr b="1" lang="en-GB" sz="1800">
                <a:solidFill>
                  <a:srgbClr val="CC4125"/>
                </a:solidFill>
              </a:rPr>
              <a:t>Use another person’s code as a base for your own code</a:t>
            </a:r>
            <a:endParaRPr b="1" sz="1800">
              <a:solidFill>
                <a:srgbClr val="CC4125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Plagiarism checks will be in place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