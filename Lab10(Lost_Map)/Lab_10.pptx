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5143500" cx="9144000"/>
  <p:notesSz cx="6858000" cy="9144000"/>
  <p:embeddedFontLst>
    <p:embeddedFont>
      <p:font typeface="Raleway"/>
      <p:regular r:id="rId50"/>
      <p:bold r:id="rId51"/>
      <p:italic r:id="rId52"/>
      <p:boldItalic r:id="rId53"/>
    </p:embeddedFont>
    <p:embeddedFont>
      <p:font typeface="Lat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AC69D6-574E-48F9-AE63-78EBEACE4442}">
  <a:tblStyle styleId="{2BAC69D6-574E-48F9-AE63-78EBEACE44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aleway-bold.fntdata"/><Relationship Id="rId50" Type="http://schemas.openxmlformats.org/officeDocument/2006/relationships/font" Target="fonts/Raleway-regular.fntdata"/><Relationship Id="rId53" Type="http://schemas.openxmlformats.org/officeDocument/2006/relationships/font" Target="fonts/Raleway-boldItalic.fntdata"/><Relationship Id="rId52" Type="http://schemas.openxmlformats.org/officeDocument/2006/relationships/font" Target="fonts/Raleway-italic.fntdata"/><Relationship Id="rId11" Type="http://schemas.openxmlformats.org/officeDocument/2006/relationships/slide" Target="slides/slide4.xml"/><Relationship Id="rId55" Type="http://schemas.openxmlformats.org/officeDocument/2006/relationships/font" Target="fonts/Lato-bold.fntdata"/><Relationship Id="rId10" Type="http://schemas.openxmlformats.org/officeDocument/2006/relationships/slide" Target="slides/slide3.xml"/><Relationship Id="rId54" Type="http://schemas.openxmlformats.org/officeDocument/2006/relationships/font" Target="fonts/Lato-regular.fntdata"/><Relationship Id="rId13" Type="http://schemas.openxmlformats.org/officeDocument/2006/relationships/slide" Target="slides/slide6.xml"/><Relationship Id="rId57" Type="http://schemas.openxmlformats.org/officeDocument/2006/relationships/font" Target="fonts/Lato-boldItalic.fntdata"/><Relationship Id="rId12" Type="http://schemas.openxmlformats.org/officeDocument/2006/relationships/slide" Target="slides/slide5.xml"/><Relationship Id="rId56" Type="http://schemas.openxmlformats.org/officeDocument/2006/relationships/font" Target="fonts/Lat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a44b7cf3d2_2_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a44b7cf3d2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f6e582545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f6e582545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9f6e582545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9f6e582545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f6e582545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9f6e582545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9f6e582545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9f6e582545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f6e58254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f6e58254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f6e58254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f6e58254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9f6e58254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9f6e58254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9f6e582545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9f6e582545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9f6e582545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9f6e582545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9f6e582545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9f6e582545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9f6e582545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9f6e582545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9f6e582545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9f6e582545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9f6e582545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9f6e582545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9f6e582545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9f6e582545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9f6e582545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9f6e582545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9f6e582545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9f6e58254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9f6e582545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9f6e582545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f6e582545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9f6e58254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f6e582545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f6e582545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9f6e582545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9f6e582545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9f6e582545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9f6e582545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9f6e5825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9f6e5825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9f6e58254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9f6e5825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9f6e5825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9f6e5825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9f6e58254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9f6e58254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9f6e582545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9f6e582545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f6e582545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f6e582545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9ef7aab33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9ef7aab33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9f6e582545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9f6e582545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a44b7cf3d2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a44b7cf3d2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9f6e58254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9f6e58254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9f6e58254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9f6e58254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9f6e582545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9f6e582545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9f6e582545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9f6e582545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f6e58254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f6e58254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6e582545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6e582545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9f6e582545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9f6e58254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9f6e582545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9f6e582545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9f6e582545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9f6e582545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9f6e582545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9f6e582545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9f6e582545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9f6e582545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325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2" type="body"/>
          </p:nvPr>
        </p:nvSpPr>
        <p:spPr>
          <a:xfrm>
            <a:off x="4643602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 10 - Minimum Spanning Tree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CS2040S Data Structures &amp; Algorithms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AY20/21 Semester 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Reminders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Take home lab 3 due next Tuesday (10 Nov) 10:00am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Please begin working on it if you haven’t started!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Visualgo Quiz for next week’s lab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15 Questions instead of 10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25 minutes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Best 1 out of 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Visualgo Quiz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Topics Tested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Binary Heap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BST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AVL Tree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UFDS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Graph Traversal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Difficulty: Hard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Visualgo Quiz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the training on visualgo page to practice</a:t>
            </a:r>
            <a:endParaRPr/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50" y="1984357"/>
            <a:ext cx="9143999" cy="279688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/>
          <p:nvPr/>
        </p:nvSpPr>
        <p:spPr>
          <a:xfrm>
            <a:off x="6941875" y="1391325"/>
            <a:ext cx="740100" cy="695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Visualgo Quiz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the training on visualgo page to practice</a:t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862" y="1850125"/>
            <a:ext cx="4117376" cy="31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Assignment 9 - Islands</a:t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Given a map of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GB"/>
              <a:t> rows and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GB"/>
              <a:t> columns (1 ≤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GB"/>
              <a:t>,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GB"/>
              <a:t> ≤ 50), find the minimum number of islands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Each cell can represent </a:t>
            </a:r>
            <a:r>
              <a:rPr lang="en-GB">
                <a:solidFill>
                  <a:schemeClr val="accent3"/>
                </a:solidFill>
              </a:rPr>
              <a:t>land (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-GB">
                <a:solidFill>
                  <a:schemeClr val="accent3"/>
                </a:solidFill>
              </a:rPr>
              <a:t>)</a:t>
            </a:r>
            <a:r>
              <a:rPr lang="en-GB"/>
              <a:t>, </a:t>
            </a:r>
            <a:r>
              <a:rPr lang="en-GB">
                <a:solidFill>
                  <a:schemeClr val="accent2"/>
                </a:solidFill>
              </a:rPr>
              <a:t>water (</a:t>
            </a:r>
            <a:r>
              <a:rPr lang="en-GB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GB">
                <a:solidFill>
                  <a:schemeClr val="accent2"/>
                </a:solidFill>
              </a:rPr>
              <a:t>)</a:t>
            </a:r>
            <a:r>
              <a:rPr lang="en-GB"/>
              <a:t> and cloud (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GB"/>
              <a:t>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Island is defined as region of land that is connected to every other by some path, only in 4 directions (up, down, left, right)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Assignment 9 - Islands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Curveball: Cloud can be either Land or Water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want to find the </a:t>
            </a:r>
            <a:r>
              <a:rPr lang="en-GB">
                <a:solidFill>
                  <a:schemeClr val="accent3"/>
                </a:solidFill>
              </a:rPr>
              <a:t>minimum possible</a:t>
            </a:r>
            <a:r>
              <a:rPr lang="en-GB"/>
              <a:t> number of islands on the 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should the clouds be?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Assignment 9 - Islands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727650" y="15419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should we store the graph?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Each coordinate is a vertex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Each vertex has an edge to the 4 adjacent vertex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You can treat the map itself as the graph!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Vertex (x, y) has an edge to vertex (a, b) if their coordinate value differ only by one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(3, 2) has an edge to (2, 2), (4, 2), (3, 1) and (3,3)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 Approach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Let’s assume there are no clouds in our input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do we count the number of islands?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Assignment 9 - Islands</a:t>
            </a:r>
            <a:endParaRPr/>
          </a:p>
        </p:txBody>
      </p:sp>
      <p:graphicFrame>
        <p:nvGraphicFramePr>
          <p:cNvPr id="221" name="Google Shape;221;p34"/>
          <p:cNvGraphicFramePr/>
          <p:nvPr/>
        </p:nvGraphicFramePr>
        <p:xfrm>
          <a:off x="1092425" y="154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{2BAC69D6-574E-48F9-AE63-78EBEACE4442}</a:tableStyleId>
              </a:tblPr>
              <a:tblGrid>
                <a:gridCol w="515450"/>
                <a:gridCol w="515450"/>
                <a:gridCol w="515450"/>
                <a:gridCol w="515450"/>
                <a:gridCol w="515450"/>
                <a:gridCol w="515450"/>
              </a:tblGrid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34"/>
          <p:cNvSpPr txBox="1"/>
          <p:nvPr/>
        </p:nvSpPr>
        <p:spPr>
          <a:xfrm>
            <a:off x="5002875" y="1591150"/>
            <a:ext cx="3382200" cy="2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-GB" sz="1600">
                <a:latin typeface="Lato"/>
                <a:ea typeface="Lato"/>
                <a:cs typeface="Lato"/>
                <a:sym typeface="Lato"/>
              </a:rPr>
              <a:t>Each island can be treated as a connected component consisting only of land cells</a:t>
            </a:r>
            <a:br>
              <a:rPr lang="en-GB" sz="1600">
                <a:latin typeface="Lato"/>
                <a:ea typeface="Lato"/>
                <a:cs typeface="Lato"/>
                <a:sym typeface="Lato"/>
              </a:rPr>
            </a:br>
            <a:br>
              <a:rPr lang="en-GB" sz="1600">
                <a:latin typeface="Lato"/>
                <a:ea typeface="Lato"/>
                <a:cs typeface="Lato"/>
                <a:sym typeface="Lato"/>
              </a:rPr>
            </a:b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-GB" sz="1600">
                <a:latin typeface="Lato"/>
                <a:ea typeface="Lato"/>
                <a:cs typeface="Lato"/>
                <a:sym typeface="Lato"/>
              </a:rPr>
              <a:t>There can be multiple disjoint connected components</a:t>
            </a:r>
            <a:br>
              <a:rPr lang="en-GB" sz="1600">
                <a:latin typeface="Lato"/>
                <a:ea typeface="Lato"/>
                <a:cs typeface="Lato"/>
                <a:sym typeface="Lato"/>
              </a:rPr>
            </a:br>
            <a:br>
              <a:rPr lang="en-GB" sz="1600">
                <a:latin typeface="Lato"/>
                <a:ea typeface="Lato"/>
                <a:cs typeface="Lato"/>
                <a:sym typeface="Lato"/>
              </a:rPr>
            </a:b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-GB" sz="1600">
                <a:latin typeface="Lato"/>
                <a:ea typeface="Lato"/>
                <a:cs typeface="Lato"/>
                <a:sym typeface="Lato"/>
              </a:rPr>
              <a:t>How to traverse through all land tiles?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Traversing all land tiles</a:t>
            </a:r>
            <a:endParaRPr/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land_count 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y from 0 to r: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For x from 0 to c: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If coordinate (x, y) is not visited and is land tile: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 1 to land_count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dfs/bfs from (x, y)</a:t>
            </a:r>
            <a:endParaRPr/>
          </a:p>
        </p:txBody>
      </p:sp>
      <p:sp>
        <p:nvSpPr>
          <p:cNvPr id="229" name="Google Shape;229;p35"/>
          <p:cNvSpPr/>
          <p:nvPr/>
        </p:nvSpPr>
        <p:spPr>
          <a:xfrm>
            <a:off x="1087900" y="1850175"/>
            <a:ext cx="2604900" cy="806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5"/>
          <p:cNvSpPr txBox="1"/>
          <p:nvPr/>
        </p:nvSpPr>
        <p:spPr>
          <a:xfrm>
            <a:off x="3841000" y="2066625"/>
            <a:ext cx="37005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Guarantees all cells are visited at least once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Traversing all land tiles</a:t>
            </a:r>
            <a:endParaRPr/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land_count 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y from 0 to r: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For x from 0 to c: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If coordinate (x, y) is not visited and is land tile: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 1 to land_count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dfs/bfs from (x, y)</a:t>
            </a:r>
            <a:endParaRPr/>
          </a:p>
        </p:txBody>
      </p:sp>
      <p:sp>
        <p:nvSpPr>
          <p:cNvPr id="237" name="Google Shape;237;p36"/>
          <p:cNvSpPr/>
          <p:nvPr/>
        </p:nvSpPr>
        <p:spPr>
          <a:xfrm>
            <a:off x="2545800" y="3482725"/>
            <a:ext cx="2026200" cy="362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6"/>
          <p:cNvSpPr txBox="1"/>
          <p:nvPr/>
        </p:nvSpPr>
        <p:spPr>
          <a:xfrm>
            <a:off x="4210975" y="3516025"/>
            <a:ext cx="3545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Only searches through land tiles!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Traversing all land tiles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Outer for loop ensures that the </a:t>
            </a:r>
            <a:r>
              <a:rPr lang="en-GB">
                <a:solidFill>
                  <a:schemeClr val="accent2"/>
                </a:solidFill>
              </a:rPr>
              <a:t>entire graph is searched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Whenever a new unvisited land cell is found, the dfs/bfs guarantees all other land cells connected to it will be visited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Prevents duplicate visiting of the same land mass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on</a:t>
            </a:r>
            <a:endParaRPr/>
          </a:p>
        </p:txBody>
      </p:sp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do we deal with cloud cells?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Dealing with Clouds</a:t>
            </a:r>
            <a:endParaRPr/>
          </a:p>
        </p:txBody>
      </p:sp>
      <p:graphicFrame>
        <p:nvGraphicFramePr>
          <p:cNvPr id="256" name="Google Shape;256;p39"/>
          <p:cNvGraphicFramePr/>
          <p:nvPr/>
        </p:nvGraphicFramePr>
        <p:xfrm>
          <a:off x="879450" y="1520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{2BAC69D6-574E-48F9-AE63-78EBEACE4442}</a:tableStyleId>
              </a:tblPr>
              <a:tblGrid>
                <a:gridCol w="515450"/>
                <a:gridCol w="515450"/>
                <a:gridCol w="515450"/>
                <a:gridCol w="515450"/>
                <a:gridCol w="515450"/>
                <a:gridCol w="515450"/>
              </a:tblGrid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57" name="Google Shape;257;p39"/>
          <p:cNvSpPr txBox="1"/>
          <p:nvPr/>
        </p:nvSpPr>
        <p:spPr>
          <a:xfrm>
            <a:off x="4462650" y="1520050"/>
            <a:ext cx="41667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How should the cloud cells be treated in this case?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39"/>
          <p:cNvSpPr txBox="1"/>
          <p:nvPr/>
        </p:nvSpPr>
        <p:spPr>
          <a:xfrm>
            <a:off x="4462650" y="1879650"/>
            <a:ext cx="41667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If they are treated as land cells, we end up with 1 more island being formed</a:t>
            </a:r>
            <a:br>
              <a:rPr lang="en-GB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Treat them as </a:t>
            </a:r>
            <a:r>
              <a:rPr lang="en-GB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water cells</a:t>
            </a:r>
            <a:endParaRPr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Dealing with Clouds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4" name="Google Shape;264;p40"/>
          <p:cNvGraphicFramePr/>
          <p:nvPr/>
        </p:nvGraphicFramePr>
        <p:xfrm>
          <a:off x="879450" y="1520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{2BAC69D6-574E-48F9-AE63-78EBEACE4442}</a:tableStyleId>
              </a:tblPr>
              <a:tblGrid>
                <a:gridCol w="515450"/>
                <a:gridCol w="515450"/>
                <a:gridCol w="515450"/>
                <a:gridCol w="515450"/>
                <a:gridCol w="515450"/>
                <a:gridCol w="515450"/>
              </a:tblGrid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  <a:tr h="52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40"/>
          <p:cNvSpPr txBox="1"/>
          <p:nvPr/>
        </p:nvSpPr>
        <p:spPr>
          <a:xfrm>
            <a:off x="4462650" y="1520050"/>
            <a:ext cx="41667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How should the cloud cells be treated in this case?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4462650" y="1879650"/>
            <a:ext cx="41667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If the cloud cells are treated as water cells, then we have 2 islands</a:t>
            </a:r>
            <a:br>
              <a:rPr lang="en-GB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If they are treated as land cells, the two lands separated by the clouds </a:t>
            </a:r>
            <a:r>
              <a:rPr lang="en-GB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gets connected to a single island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Dealing with Clouds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connected to a land tile, treat each cloud tile as a land tile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Otherwise, treat them as water tiles.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Dealing with Clouds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2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land_count 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y from 0 to r: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For x from 0 to c: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If coordinate (x, y) is not visited and is land tile: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 1 to land_count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dfs/bfs from (x, y)</a:t>
            </a:r>
            <a:endParaRPr/>
          </a:p>
        </p:txBody>
      </p:sp>
      <p:sp>
        <p:nvSpPr>
          <p:cNvPr id="279" name="Google Shape;279;p42"/>
          <p:cNvSpPr/>
          <p:nvPr/>
        </p:nvSpPr>
        <p:spPr>
          <a:xfrm>
            <a:off x="2545800" y="3482725"/>
            <a:ext cx="2026200" cy="362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2"/>
          <p:cNvSpPr txBox="1"/>
          <p:nvPr/>
        </p:nvSpPr>
        <p:spPr>
          <a:xfrm>
            <a:off x="2508800" y="3897175"/>
            <a:ext cx="3996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Now searches through land AND cloud tiles!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Tips &amp; Tricks</a:t>
            </a:r>
            <a:endParaRPr/>
          </a:p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729450" y="1356675"/>
            <a:ext cx="7688700" cy="4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Directional Search</a:t>
            </a:r>
            <a:endParaRPr/>
          </a:p>
        </p:txBody>
      </p:sp>
      <p:sp>
        <p:nvSpPr>
          <p:cNvPr id="287" name="Google Shape;287;p43"/>
          <p:cNvSpPr txBox="1"/>
          <p:nvPr/>
        </p:nvSpPr>
        <p:spPr>
          <a:xfrm>
            <a:off x="1332125" y="2027800"/>
            <a:ext cx="1953900" cy="2153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Check left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(curX -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&gt;=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do something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Check right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(curX +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&lt; c) {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do something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43"/>
          <p:cNvSpPr txBox="1"/>
          <p:nvPr/>
        </p:nvSpPr>
        <p:spPr>
          <a:xfrm>
            <a:off x="3286025" y="2027800"/>
            <a:ext cx="1953900" cy="2153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Check up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(curY +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&lt; r) {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do something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Check down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(curY -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&gt;=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do something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p43"/>
          <p:cNvSpPr txBox="1"/>
          <p:nvPr/>
        </p:nvSpPr>
        <p:spPr>
          <a:xfrm>
            <a:off x="5639350" y="2027800"/>
            <a:ext cx="30048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What if you have 8 directions to check now?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Or even 24?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Tips &amp; Tricks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29450" y="1356675"/>
            <a:ext cx="76887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Make use of a direction array!</a:t>
            </a:r>
            <a:endParaRPr/>
          </a:p>
        </p:txBody>
      </p:sp>
      <p:sp>
        <p:nvSpPr>
          <p:cNvPr id="296" name="Google Shape;296;p44"/>
          <p:cNvSpPr txBox="1"/>
          <p:nvPr/>
        </p:nvSpPr>
        <p:spPr>
          <a:xfrm>
            <a:off x="6212850" y="1144575"/>
            <a:ext cx="2205300" cy="88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North, East, South, West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GB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xDir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GB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yDir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" name="Google Shape;297;p44"/>
          <p:cNvSpPr txBox="1"/>
          <p:nvPr>
            <p:ph idx="1" type="body"/>
          </p:nvPr>
        </p:nvSpPr>
        <p:spPr>
          <a:xfrm>
            <a:off x="754200" y="3457300"/>
            <a:ext cx="76887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Simple for loop to check all directions:</a:t>
            </a:r>
            <a:endParaRPr/>
          </a:p>
        </p:txBody>
      </p:sp>
      <p:sp>
        <p:nvSpPr>
          <p:cNvPr id="298" name="Google Shape;298;p44"/>
          <p:cNvSpPr txBox="1"/>
          <p:nvPr/>
        </p:nvSpPr>
        <p:spPr>
          <a:xfrm>
            <a:off x="5815500" y="2642050"/>
            <a:ext cx="3000000" cy="2087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nextX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GB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nextY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-GB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i &lt;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nextX = curX + xDir[i];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nextY = curY + yDir[i];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GB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(nextX &gt;=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nextX &lt;= c &amp;&amp; nextY &gt;= </a:t>
            </a:r>
            <a:r>
              <a:rPr b="1" lang="en-GB" sz="10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nextY &lt;= r) {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GB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do something</a:t>
            </a:r>
            <a:endParaRPr b="1"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Minimum Spanning Tree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MST</a:t>
            </a:r>
            <a:endParaRPr/>
          </a:p>
        </p:txBody>
      </p:sp>
      <p:sp>
        <p:nvSpPr>
          <p:cNvPr id="309" name="Google Shape;309;p46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Two algorithms discussed in lecture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Prim’s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Kruskal’s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MST</a:t>
            </a:r>
            <a:endParaRPr/>
          </a:p>
        </p:txBody>
      </p:sp>
      <p:sp>
        <p:nvSpPr>
          <p:cNvPr id="315" name="Google Shape;315;p47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Both algorithms runs in </a:t>
            </a:r>
            <a:r>
              <a:rPr b="1" lang="en-GB"/>
              <a:t>O(E lg V)</a:t>
            </a:r>
            <a:r>
              <a:rPr lang="en-GB"/>
              <a:t> time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Assuming you are using the correct data structures, auxiliary data structures and intermediate algorithms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E.g. running Prim’s algorithm using an array as PQ instead of binary heap will result in slower runtime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E.g. running non-comparison sort on Edge List before running Kruskal’s algorithm may result in faster runtime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MST</a:t>
            </a:r>
            <a:endParaRPr/>
          </a:p>
        </p:txBody>
      </p:sp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When given data in a graph data structure, you can </a:t>
            </a:r>
            <a:r>
              <a:rPr b="1" lang="en-GB"/>
              <a:t>transform it to another representation</a:t>
            </a:r>
            <a:r>
              <a:rPr lang="en-GB"/>
              <a:t> to speed up the algorithm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E.g. if you are given an Adjacency Matrix, then you can transform it to an Edge List before running Kruskal’s algorithm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Applies to all graph-related problems!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Prim’s Algorithm</a:t>
            </a:r>
            <a:endParaRPr/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Tends to use alongside with </a:t>
            </a:r>
            <a:r>
              <a:rPr b="1" lang="en-GB"/>
              <a:t>Adjacency List</a:t>
            </a:r>
            <a:r>
              <a:rPr lang="en-GB"/>
              <a:t> representation of graphs, and (for CS2040) </a:t>
            </a:r>
            <a:r>
              <a:rPr b="1" lang="en-GB"/>
              <a:t>binary heap / bBST</a:t>
            </a:r>
            <a:r>
              <a:rPr lang="en-GB"/>
              <a:t> for Priority Queue ADT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Adjacency Matrix</a:t>
            </a:r>
            <a:r>
              <a:rPr lang="en-GB"/>
              <a:t> is sometimes used if graphs are complete / near-complete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Kruskal’s Algorithm</a:t>
            </a:r>
            <a:endParaRPr/>
          </a:p>
        </p:txBody>
      </p:sp>
      <p:sp>
        <p:nvSpPr>
          <p:cNvPr id="333" name="Google Shape;333;p50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Tends to use alongside with </a:t>
            </a:r>
            <a:r>
              <a:rPr b="1" lang="en-GB"/>
              <a:t>Edge List</a:t>
            </a:r>
            <a:r>
              <a:rPr lang="en-GB"/>
              <a:t> representation of graphs, and </a:t>
            </a:r>
            <a:r>
              <a:rPr b="1" lang="en-GB"/>
              <a:t>UFDS</a:t>
            </a:r>
            <a:r>
              <a:rPr lang="en-GB"/>
              <a:t> for Set ADT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 Day Assignment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Assignment 10 - Lost Map</a:t>
            </a:r>
            <a:endParaRPr/>
          </a:p>
        </p:txBody>
      </p:sp>
      <p:sp>
        <p:nvSpPr>
          <p:cNvPr id="344" name="Google Shape;344;p52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 villages in the region (2 ≤ n ≤ 2500)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exists a network of roads that connects all villages, but the map is lost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 know the shortest distance from each village to every other village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you reconstruct the lost map?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Assignment 10 - Lost Map</a:t>
            </a:r>
            <a:endParaRPr/>
          </a:p>
        </p:txBody>
      </p:sp>
      <p:sp>
        <p:nvSpPr>
          <p:cNvPr id="350" name="Google Shape;350;p53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i="1" lang="en-GB"/>
              <a:t>“</a:t>
            </a:r>
            <a:r>
              <a:rPr b="1" i="1" lang="en-GB"/>
              <a:t>minimum number of roads have been constructed such that each village can reach every other village via a sequence of roads”</a:t>
            </a:r>
            <a:endParaRPr b="1"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Assignment 10 - Lost Map</a:t>
            </a:r>
            <a:endParaRPr/>
          </a:p>
        </p:txBody>
      </p:sp>
      <p:sp>
        <p:nvSpPr>
          <p:cNvPr id="356" name="Google Shape;356;p54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i="1" lang="en-GB"/>
              <a:t>“minimum number of </a:t>
            </a:r>
            <a:r>
              <a:rPr b="1" i="1" lang="en-GB" strike="sngStrike"/>
              <a:t>roads</a:t>
            </a:r>
            <a:r>
              <a:rPr b="1" i="1" lang="en-GB"/>
              <a:t> have been constructed such that each </a:t>
            </a:r>
            <a:r>
              <a:rPr b="1" i="1" lang="en-GB" strike="sngStrike"/>
              <a:t>village</a:t>
            </a:r>
            <a:r>
              <a:rPr b="1" i="1" lang="en-GB"/>
              <a:t> can reach every other </a:t>
            </a:r>
            <a:r>
              <a:rPr b="1" i="1" lang="en-GB" strike="sngStrike"/>
              <a:t>village</a:t>
            </a:r>
            <a:r>
              <a:rPr b="1" i="1" lang="en-GB"/>
              <a:t> via a sequence of </a:t>
            </a:r>
            <a:r>
              <a:rPr b="1" i="1" lang="en-GB" strike="sngStrike"/>
              <a:t>roads</a:t>
            </a:r>
            <a:r>
              <a:rPr b="1" i="1" lang="en-GB"/>
              <a:t>”</a:t>
            </a:r>
            <a:endParaRPr b="1" i="1"/>
          </a:p>
        </p:txBody>
      </p:sp>
      <p:sp>
        <p:nvSpPr>
          <p:cNvPr id="357" name="Google Shape;357;p54"/>
          <p:cNvSpPr txBox="1"/>
          <p:nvPr/>
        </p:nvSpPr>
        <p:spPr>
          <a:xfrm>
            <a:off x="2804875" y="2027800"/>
            <a:ext cx="6807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edges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54"/>
          <p:cNvSpPr txBox="1"/>
          <p:nvPr/>
        </p:nvSpPr>
        <p:spPr>
          <a:xfrm>
            <a:off x="4763050" y="2898050"/>
            <a:ext cx="6807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edges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54"/>
          <p:cNvSpPr txBox="1"/>
          <p:nvPr/>
        </p:nvSpPr>
        <p:spPr>
          <a:xfrm>
            <a:off x="7030700" y="2027800"/>
            <a:ext cx="7326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vertex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54"/>
          <p:cNvSpPr txBox="1"/>
          <p:nvPr/>
        </p:nvSpPr>
        <p:spPr>
          <a:xfrm>
            <a:off x="2439225" y="2931350"/>
            <a:ext cx="7326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vertex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 Guidelines</a:t>
            </a:r>
            <a:endParaRPr/>
          </a:p>
        </p:txBody>
      </p:sp>
      <p:sp>
        <p:nvSpPr>
          <p:cNvPr id="366" name="Google Shape;366;p55"/>
          <p:cNvSpPr txBox="1"/>
          <p:nvPr>
            <p:ph idx="1" type="body"/>
          </p:nvPr>
        </p:nvSpPr>
        <p:spPr>
          <a:xfrm>
            <a:off x="729450" y="16891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Include your </a:t>
            </a:r>
            <a:r>
              <a:rPr b="1" lang="en-GB" sz="1800">
                <a:solidFill>
                  <a:srgbClr val="CC4125"/>
                </a:solidFill>
              </a:rPr>
              <a:t>name</a:t>
            </a:r>
            <a:r>
              <a:rPr lang="en-GB" sz="1800"/>
              <a:t> and </a:t>
            </a:r>
            <a:r>
              <a:rPr b="1" lang="en-GB" sz="1800">
                <a:solidFill>
                  <a:srgbClr val="CC4125"/>
                </a:solidFill>
              </a:rPr>
              <a:t>student number</a:t>
            </a:r>
            <a:r>
              <a:rPr lang="en-GB" sz="1800"/>
              <a:t> in comments at the top of your code.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 are allowed (and encouraged) to discuss algorithms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List down all your collaborators in your source code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●"/>
            </a:pPr>
            <a:r>
              <a:rPr b="1" lang="en-GB" sz="1800">
                <a:solidFill>
                  <a:srgbClr val="CC4125"/>
                </a:solidFill>
              </a:rPr>
              <a:t>You are NOT allowed to: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Copy another person’s code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Look at another person’s code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Use another person’s code as a base for your own code</a:t>
            </a:r>
            <a:endParaRPr b="1" sz="1800">
              <a:solidFill>
                <a:srgbClr val="CC4125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Plagiarism checks will be in place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Take-Home Lab 4A: 10 Kinds of People</a:t>
            </a:r>
            <a:endParaRPr/>
          </a:p>
        </p:txBody>
      </p:sp>
      <p:sp>
        <p:nvSpPr>
          <p:cNvPr id="372" name="Google Shape;372;p56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Grid of RxC cells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Cells are either type 1 or type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 queries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Positions of 2 cells A and B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Can I get from A to B?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Without changing types</a:t>
            </a:r>
            <a:endParaRPr/>
          </a:p>
        </p:txBody>
      </p:sp>
      <p:sp>
        <p:nvSpPr>
          <p:cNvPr id="373" name="Google Shape;373;p56"/>
          <p:cNvSpPr txBox="1"/>
          <p:nvPr/>
        </p:nvSpPr>
        <p:spPr>
          <a:xfrm>
            <a:off x="7245600" y="1356675"/>
            <a:ext cx="11973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11111</a:t>
            </a: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00000</a:t>
            </a:r>
            <a:endParaRPr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1111</a:t>
            </a: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000000</a:t>
            </a:r>
            <a:endParaRPr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</a:t>
            </a: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00000</a:t>
            </a: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endParaRPr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1111</a:t>
            </a: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</a:t>
            </a:r>
            <a:endParaRPr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11111111</a:t>
            </a:r>
            <a:endParaRPr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7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Take-Home Lab 4A: 10 Kinds of People</a:t>
            </a:r>
            <a:endParaRPr/>
          </a:p>
        </p:txBody>
      </p:sp>
      <p:sp>
        <p:nvSpPr>
          <p:cNvPr id="379" name="Google Shape;379;p57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I get from A to B?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Without changing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May not always be able to go between any pair of 0s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Bottom left 0, top right 0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Cannot “jump” over the intervening 1s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Different “</a:t>
            </a:r>
            <a:r>
              <a:rPr b="1" lang="en-GB"/>
              <a:t>islands</a:t>
            </a:r>
            <a:r>
              <a:rPr lang="en-GB"/>
              <a:t>” of 0s</a:t>
            </a:r>
            <a:endParaRPr/>
          </a:p>
        </p:txBody>
      </p:sp>
      <p:sp>
        <p:nvSpPr>
          <p:cNvPr id="380" name="Google Shape;380;p57"/>
          <p:cNvSpPr txBox="1"/>
          <p:nvPr/>
        </p:nvSpPr>
        <p:spPr>
          <a:xfrm>
            <a:off x="7245600" y="1356675"/>
            <a:ext cx="11973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11111</a:t>
            </a: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00000</a:t>
            </a:r>
            <a:endParaRPr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1111</a:t>
            </a: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000000</a:t>
            </a:r>
            <a:endParaRPr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</a:t>
            </a: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00000</a:t>
            </a: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endParaRPr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1111</a:t>
            </a:r>
            <a:r>
              <a:rPr lang="en-GB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</a:t>
            </a:r>
            <a:endParaRPr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-GB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11111111</a:t>
            </a:r>
            <a:endParaRPr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8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Take-Home Lab 4B</a:t>
            </a:r>
            <a:r>
              <a:rPr lang="en-GB"/>
              <a:t>:</a:t>
            </a:r>
            <a:r>
              <a:rPr lang="en-GB"/>
              <a:t> Millionaire Madness</a:t>
            </a:r>
            <a:endParaRPr/>
          </a:p>
        </p:txBody>
      </p:sp>
      <p:sp>
        <p:nvSpPr>
          <p:cNvPr id="386" name="Google Shape;386;p58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RxC grid, of stacks of coins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Stacks have different (integer) height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 can go 1 step up/down/left/right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(next stack - current stack) &lt;= ladder height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If next stack shorter, always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 at top left, end at bottom right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Minimize ladder height needed</a:t>
            </a:r>
            <a:endParaRPr/>
          </a:p>
        </p:txBody>
      </p:sp>
      <p:sp>
        <p:nvSpPr>
          <p:cNvPr id="387" name="Google Shape;387;p58"/>
          <p:cNvSpPr txBox="1"/>
          <p:nvPr/>
        </p:nvSpPr>
        <p:spPr>
          <a:xfrm>
            <a:off x="6690325" y="2707600"/>
            <a:ext cx="2044500" cy="318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No ladder == “Height 0”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9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you can play it slowly you can play it quickly</a:t>
            </a:r>
            <a:endParaRPr/>
          </a:p>
        </p:txBody>
      </p:sp>
      <p:sp>
        <p:nvSpPr>
          <p:cNvPr id="393" name="Google Shape;393;p59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Let’s make the question slightly more general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Start/end positions are no longer fixed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Can we get from any point A to any point B?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Minimize ladder height needed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0"/>
          <p:cNvSpPr txBox="1"/>
          <p:nvPr>
            <p:ph idx="1" type="body"/>
          </p:nvPr>
        </p:nvSpPr>
        <p:spPr>
          <a:xfrm>
            <a:off x="727650" y="1361400"/>
            <a:ext cx="7688700" cy="36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Ladder heights are </a:t>
            </a:r>
            <a:r>
              <a:rPr b="1" lang="en-GB"/>
              <a:t>non-negative </a:t>
            </a:r>
            <a:r>
              <a:rPr b="1" lang="en-GB"/>
              <a:t>integers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we </a:t>
            </a:r>
            <a:r>
              <a:rPr lang="en-GB">
                <a:highlight>
                  <a:srgbClr val="FFFF00"/>
                </a:highlight>
              </a:rPr>
              <a:t>get from</a:t>
            </a:r>
            <a:r>
              <a:rPr lang="en-GB"/>
              <a:t> any point A to any point B?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my ladder is height 0?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my ladder is height 1?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my ladder is height 2?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Maybe we can track “usable so far” subgraph…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What DS do we need here?</a:t>
            </a:r>
            <a:endParaRPr/>
          </a:p>
        </p:txBody>
      </p:sp>
      <p:sp>
        <p:nvSpPr>
          <p:cNvPr id="399" name="Google Shape;399;p60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Ladders</a:t>
            </a:r>
            <a:endParaRPr/>
          </a:p>
        </p:txBody>
      </p:sp>
      <p:sp>
        <p:nvSpPr>
          <p:cNvPr id="400" name="Google Shape;400;p60"/>
          <p:cNvSpPr txBox="1"/>
          <p:nvPr/>
        </p:nvSpPr>
        <p:spPr>
          <a:xfrm>
            <a:off x="4367475" y="2273575"/>
            <a:ext cx="45285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What changes, when I increase my ladder height (H-1) -&gt; H?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What is now usable?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Height differences of +H </a:t>
            </a:r>
            <a:r>
              <a:rPr lang="en-GB" sz="1300">
                <a:highlight>
                  <a:srgbClr val="FFFF00"/>
                </a:highlight>
                <a:latin typeface="Lato"/>
                <a:ea typeface="Lato"/>
                <a:cs typeface="Lato"/>
                <a:sym typeface="Lato"/>
              </a:rPr>
              <a:t>can now be used</a:t>
            </a:r>
            <a:endParaRPr sz="1300">
              <a:highlight>
                <a:srgbClr val="FFFF00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Do I lose anything?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Longer ladders can be used in place of shorter ones.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Take-Home Lab 4C: Dominos</a:t>
            </a:r>
            <a:endParaRPr/>
          </a:p>
        </p:txBody>
      </p:sp>
      <p:sp>
        <p:nvSpPr>
          <p:cNvPr id="406" name="Google Shape;406;p61"/>
          <p:cNvSpPr txBox="1"/>
          <p:nvPr>
            <p:ph idx="1" type="body"/>
          </p:nvPr>
        </p:nvSpPr>
        <p:spPr>
          <a:xfrm>
            <a:off x="729450" y="1432875"/>
            <a:ext cx="7688700" cy="3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 dominos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 relationships between dominoes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Domino A gets hit =&gt; Will knock down domino 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Obvious graph model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Domino =&gt; vertex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Will-knockdown =&gt; directed 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many dominoes need to be </a:t>
            </a:r>
            <a:r>
              <a:rPr b="1" lang="en-GB"/>
              <a:t>manually</a:t>
            </a:r>
            <a:r>
              <a:rPr lang="en-GB"/>
              <a:t> knocked over?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Corresponding concept in graph model?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2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</a:t>
            </a:r>
            <a:endParaRPr/>
          </a:p>
        </p:txBody>
      </p:sp>
      <p:sp>
        <p:nvSpPr>
          <p:cNvPr id="412" name="Google Shape;412;p62"/>
          <p:cNvSpPr/>
          <p:nvPr/>
        </p:nvSpPr>
        <p:spPr>
          <a:xfrm>
            <a:off x="1485800" y="1543375"/>
            <a:ext cx="454200" cy="454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413" name="Google Shape;413;p62"/>
          <p:cNvSpPr/>
          <p:nvPr/>
        </p:nvSpPr>
        <p:spPr>
          <a:xfrm>
            <a:off x="2365900" y="15433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414" name="Google Shape;414;p62"/>
          <p:cNvSpPr/>
          <p:nvPr/>
        </p:nvSpPr>
        <p:spPr>
          <a:xfrm>
            <a:off x="3246000" y="15433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endParaRPr/>
          </a:p>
        </p:txBody>
      </p:sp>
      <p:cxnSp>
        <p:nvCxnSpPr>
          <p:cNvPr id="415" name="Google Shape;415;p62"/>
          <p:cNvCxnSpPr>
            <a:stCxn id="412" idx="3"/>
            <a:endCxn id="413" idx="1"/>
          </p:cNvCxnSpPr>
          <p:nvPr/>
        </p:nvCxnSpPr>
        <p:spPr>
          <a:xfrm>
            <a:off x="1940000" y="1770475"/>
            <a:ext cx="4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62"/>
          <p:cNvCxnSpPr>
            <a:stCxn id="413" idx="3"/>
            <a:endCxn id="414" idx="1"/>
          </p:cNvCxnSpPr>
          <p:nvPr/>
        </p:nvCxnSpPr>
        <p:spPr>
          <a:xfrm>
            <a:off x="2820100" y="1770475"/>
            <a:ext cx="42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62"/>
          <p:cNvSpPr/>
          <p:nvPr/>
        </p:nvSpPr>
        <p:spPr>
          <a:xfrm>
            <a:off x="6038450" y="1086175"/>
            <a:ext cx="454200" cy="454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418" name="Google Shape;418;p62"/>
          <p:cNvSpPr/>
          <p:nvPr/>
        </p:nvSpPr>
        <p:spPr>
          <a:xfrm>
            <a:off x="6918550" y="6319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419" name="Google Shape;419;p62"/>
          <p:cNvSpPr/>
          <p:nvPr/>
        </p:nvSpPr>
        <p:spPr>
          <a:xfrm>
            <a:off x="6918550" y="15403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endParaRPr/>
          </a:p>
        </p:txBody>
      </p:sp>
      <p:cxnSp>
        <p:nvCxnSpPr>
          <p:cNvPr id="420" name="Google Shape;420;p62"/>
          <p:cNvCxnSpPr>
            <a:stCxn id="417" idx="3"/>
            <a:endCxn id="418" idx="1"/>
          </p:cNvCxnSpPr>
          <p:nvPr/>
        </p:nvCxnSpPr>
        <p:spPr>
          <a:xfrm flipH="1" rot="10800000">
            <a:off x="6492650" y="8590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62"/>
          <p:cNvCxnSpPr>
            <a:stCxn id="417" idx="3"/>
            <a:endCxn id="419" idx="1"/>
          </p:cNvCxnSpPr>
          <p:nvPr/>
        </p:nvCxnSpPr>
        <p:spPr>
          <a:xfrm>
            <a:off x="6492650" y="13132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2" name="Google Shape;422;p62"/>
          <p:cNvSpPr/>
          <p:nvPr/>
        </p:nvSpPr>
        <p:spPr>
          <a:xfrm flipH="1">
            <a:off x="2746950" y="34659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423" name="Google Shape;423;p62"/>
          <p:cNvSpPr/>
          <p:nvPr/>
        </p:nvSpPr>
        <p:spPr>
          <a:xfrm flipH="1">
            <a:off x="1866850" y="3011775"/>
            <a:ext cx="454200" cy="454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424" name="Google Shape;424;p62"/>
          <p:cNvSpPr/>
          <p:nvPr/>
        </p:nvSpPr>
        <p:spPr>
          <a:xfrm flipH="1">
            <a:off x="1866850" y="3920175"/>
            <a:ext cx="454200" cy="454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endParaRPr/>
          </a:p>
        </p:txBody>
      </p:sp>
      <p:cxnSp>
        <p:nvCxnSpPr>
          <p:cNvPr id="425" name="Google Shape;425;p62"/>
          <p:cNvCxnSpPr>
            <a:stCxn id="422" idx="3"/>
            <a:endCxn id="423" idx="1"/>
          </p:cNvCxnSpPr>
          <p:nvPr/>
        </p:nvCxnSpPr>
        <p:spPr>
          <a:xfrm rot="10800000">
            <a:off x="2320950" y="32388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26" name="Google Shape;426;p62"/>
          <p:cNvCxnSpPr>
            <a:stCxn id="422" idx="3"/>
            <a:endCxn id="424" idx="1"/>
          </p:cNvCxnSpPr>
          <p:nvPr/>
        </p:nvCxnSpPr>
        <p:spPr>
          <a:xfrm flipH="1">
            <a:off x="2320950" y="36930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27" name="Google Shape;427;p62"/>
          <p:cNvSpPr txBox="1"/>
          <p:nvPr/>
        </p:nvSpPr>
        <p:spPr>
          <a:xfrm>
            <a:off x="1028275" y="2081525"/>
            <a:ext cx="34779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A knocks over B, which knocks over C.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8" name="Google Shape;428;p62"/>
          <p:cNvSpPr txBox="1"/>
          <p:nvPr/>
        </p:nvSpPr>
        <p:spPr>
          <a:xfrm>
            <a:off x="5456475" y="2048875"/>
            <a:ext cx="2725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A knocks over both B and C.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62"/>
          <p:cNvSpPr txBox="1"/>
          <p:nvPr/>
        </p:nvSpPr>
        <p:spPr>
          <a:xfrm>
            <a:off x="937875" y="4461125"/>
            <a:ext cx="2725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We need to knock down both B and C, even if A is hit by either.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" name="Google Shape;430;p62"/>
          <p:cNvSpPr/>
          <p:nvPr/>
        </p:nvSpPr>
        <p:spPr>
          <a:xfrm>
            <a:off x="6152075" y="3465975"/>
            <a:ext cx="454200" cy="454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431" name="Google Shape;431;p62"/>
          <p:cNvSpPr/>
          <p:nvPr/>
        </p:nvSpPr>
        <p:spPr>
          <a:xfrm>
            <a:off x="7032175" y="30117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432" name="Google Shape;432;p62"/>
          <p:cNvSpPr/>
          <p:nvPr/>
        </p:nvSpPr>
        <p:spPr>
          <a:xfrm>
            <a:off x="7032175" y="3920175"/>
            <a:ext cx="454200" cy="454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endParaRPr/>
          </a:p>
        </p:txBody>
      </p:sp>
      <p:cxnSp>
        <p:nvCxnSpPr>
          <p:cNvPr id="433" name="Google Shape;433;p62"/>
          <p:cNvCxnSpPr>
            <a:stCxn id="430" idx="3"/>
            <a:endCxn id="431" idx="1"/>
          </p:cNvCxnSpPr>
          <p:nvPr/>
        </p:nvCxnSpPr>
        <p:spPr>
          <a:xfrm flipH="1" rot="10800000">
            <a:off x="6606275" y="32388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" name="Google Shape;434;p62"/>
          <p:cNvSpPr txBox="1"/>
          <p:nvPr/>
        </p:nvSpPr>
        <p:spPr>
          <a:xfrm>
            <a:off x="5421375" y="4533100"/>
            <a:ext cx="2725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A only knocks down B, but not C.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we don’t have any domino “cycles”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Which dominoes are </a:t>
            </a:r>
            <a:r>
              <a:rPr b="1" lang="en-GB"/>
              <a:t>necessarily</a:t>
            </a:r>
            <a:r>
              <a:rPr lang="en-GB"/>
              <a:t> to manually hit?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Can they be knocked over by another domino?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Which dominoes are </a:t>
            </a:r>
            <a:r>
              <a:rPr b="1" lang="en-GB"/>
              <a:t>sufficient</a:t>
            </a:r>
            <a:r>
              <a:rPr lang="en-GB"/>
              <a:t> to manually hit?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For any domino, can we hit it by cascading instead?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does this idea carry over into our graph model?</a:t>
            </a:r>
            <a:endParaRPr/>
          </a:p>
        </p:txBody>
      </p:sp>
      <p:sp>
        <p:nvSpPr>
          <p:cNvPr id="440" name="Google Shape;440;p6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Cycles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/>
          <p:nvPr>
            <p:ph idx="1" type="body"/>
          </p:nvPr>
        </p:nvSpPr>
        <p:spPr>
          <a:xfrm>
            <a:off x="729450" y="1737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Let’s try the complete opposite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Bunch of dominoes are arranged in a circle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we have a “cycle” of dominoes knocking down each other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Does it matter which we start with first?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still works if we have separate cycle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Pick 1 per </a:t>
            </a:r>
            <a:r>
              <a:rPr lang="en-GB"/>
              <a:t>cycle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u="sng"/>
              <a:t>“Shrink” cycle down to that single representative</a:t>
            </a:r>
            <a:endParaRPr u="sng"/>
          </a:p>
        </p:txBody>
      </p:sp>
      <p:sp>
        <p:nvSpPr>
          <p:cNvPr id="446" name="Google Shape;446;p6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Cycles</a:t>
            </a:r>
            <a:endParaRPr/>
          </a:p>
        </p:txBody>
      </p:sp>
      <p:grpSp>
        <p:nvGrpSpPr>
          <p:cNvPr id="447" name="Google Shape;447;p64"/>
          <p:cNvGrpSpPr/>
          <p:nvPr/>
        </p:nvGrpSpPr>
        <p:grpSpPr>
          <a:xfrm>
            <a:off x="3676250" y="631975"/>
            <a:ext cx="1334300" cy="1362600"/>
            <a:chOff x="3676250" y="631975"/>
            <a:chExt cx="1334300" cy="1362600"/>
          </a:xfrm>
        </p:grpSpPr>
        <p:sp>
          <p:nvSpPr>
            <p:cNvPr id="448" name="Google Shape;448;p64"/>
            <p:cNvSpPr/>
            <p:nvPr/>
          </p:nvSpPr>
          <p:spPr>
            <a:xfrm>
              <a:off x="3676250" y="1086175"/>
              <a:ext cx="454200" cy="4542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A</a:t>
              </a:r>
              <a:endParaRPr/>
            </a:p>
          </p:txBody>
        </p:sp>
        <p:sp>
          <p:nvSpPr>
            <p:cNvPr id="449" name="Google Shape;449;p64"/>
            <p:cNvSpPr/>
            <p:nvPr/>
          </p:nvSpPr>
          <p:spPr>
            <a:xfrm>
              <a:off x="4556350" y="631975"/>
              <a:ext cx="454200" cy="454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B</a:t>
              </a:r>
              <a:endParaRPr/>
            </a:p>
          </p:txBody>
        </p:sp>
        <p:sp>
          <p:nvSpPr>
            <p:cNvPr id="450" name="Google Shape;450;p64"/>
            <p:cNvSpPr/>
            <p:nvPr/>
          </p:nvSpPr>
          <p:spPr>
            <a:xfrm>
              <a:off x="4556350" y="1540375"/>
              <a:ext cx="454200" cy="454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C</a:t>
              </a:r>
              <a:endParaRPr/>
            </a:p>
          </p:txBody>
        </p:sp>
        <p:cxnSp>
          <p:nvCxnSpPr>
            <p:cNvPr id="451" name="Google Shape;451;p64"/>
            <p:cNvCxnSpPr>
              <a:stCxn id="448" idx="3"/>
              <a:endCxn id="449" idx="1"/>
            </p:cNvCxnSpPr>
            <p:nvPr/>
          </p:nvCxnSpPr>
          <p:spPr>
            <a:xfrm flipH="1" rot="10800000">
              <a:off x="4130450" y="859075"/>
              <a:ext cx="426000" cy="45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2" name="Google Shape;452;p64"/>
            <p:cNvCxnSpPr>
              <a:stCxn id="448" idx="3"/>
              <a:endCxn id="450" idx="1"/>
            </p:cNvCxnSpPr>
            <p:nvPr/>
          </p:nvCxnSpPr>
          <p:spPr>
            <a:xfrm>
              <a:off x="4130450" y="1313275"/>
              <a:ext cx="426000" cy="45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53" name="Google Shape;453;p64"/>
            <p:cNvCxnSpPr>
              <a:stCxn id="449" idx="2"/>
              <a:endCxn id="450" idx="0"/>
            </p:cNvCxnSpPr>
            <p:nvPr/>
          </p:nvCxnSpPr>
          <p:spPr>
            <a:xfrm>
              <a:off x="4783450" y="1086175"/>
              <a:ext cx="0" cy="45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54" name="Google Shape;454;p64"/>
          <p:cNvSpPr/>
          <p:nvPr/>
        </p:nvSpPr>
        <p:spPr>
          <a:xfrm>
            <a:off x="5419550" y="10861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455" name="Google Shape;455;p64"/>
          <p:cNvSpPr/>
          <p:nvPr/>
        </p:nvSpPr>
        <p:spPr>
          <a:xfrm>
            <a:off x="6299650" y="631975"/>
            <a:ext cx="454200" cy="454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</a:t>
            </a:r>
            <a:endParaRPr/>
          </a:p>
        </p:txBody>
      </p:sp>
      <p:sp>
        <p:nvSpPr>
          <p:cNvPr id="456" name="Google Shape;456;p64"/>
          <p:cNvSpPr/>
          <p:nvPr/>
        </p:nvSpPr>
        <p:spPr>
          <a:xfrm>
            <a:off x="6299650" y="15403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</a:t>
            </a:r>
            <a:endParaRPr/>
          </a:p>
        </p:txBody>
      </p:sp>
      <p:cxnSp>
        <p:nvCxnSpPr>
          <p:cNvPr id="457" name="Google Shape;457;p64"/>
          <p:cNvCxnSpPr>
            <a:stCxn id="454" idx="3"/>
            <a:endCxn id="455" idx="1"/>
          </p:cNvCxnSpPr>
          <p:nvPr/>
        </p:nvCxnSpPr>
        <p:spPr>
          <a:xfrm flipH="1" rot="10800000">
            <a:off x="5873750" y="8590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64"/>
          <p:cNvCxnSpPr>
            <a:stCxn id="454" idx="3"/>
            <a:endCxn id="456" idx="1"/>
          </p:cNvCxnSpPr>
          <p:nvPr/>
        </p:nvCxnSpPr>
        <p:spPr>
          <a:xfrm>
            <a:off x="5873750" y="13132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9" name="Google Shape;459;p64"/>
          <p:cNvSpPr/>
          <p:nvPr/>
        </p:nvSpPr>
        <p:spPr>
          <a:xfrm>
            <a:off x="7162950" y="10861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</a:t>
            </a:r>
            <a:endParaRPr/>
          </a:p>
        </p:txBody>
      </p:sp>
      <p:sp>
        <p:nvSpPr>
          <p:cNvPr id="460" name="Google Shape;460;p64"/>
          <p:cNvSpPr/>
          <p:nvPr/>
        </p:nvSpPr>
        <p:spPr>
          <a:xfrm>
            <a:off x="8043050" y="6319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8043050" y="1540375"/>
            <a:ext cx="454200" cy="454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</a:t>
            </a:r>
            <a:endParaRPr/>
          </a:p>
        </p:txBody>
      </p:sp>
      <p:cxnSp>
        <p:nvCxnSpPr>
          <p:cNvPr id="462" name="Google Shape;462;p64"/>
          <p:cNvCxnSpPr>
            <a:stCxn id="459" idx="3"/>
            <a:endCxn id="460" idx="1"/>
          </p:cNvCxnSpPr>
          <p:nvPr/>
        </p:nvCxnSpPr>
        <p:spPr>
          <a:xfrm flipH="1" rot="10800000">
            <a:off x="7617150" y="8590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64"/>
          <p:cNvCxnSpPr>
            <a:stCxn id="459" idx="3"/>
            <a:endCxn id="461" idx="1"/>
          </p:cNvCxnSpPr>
          <p:nvPr/>
        </p:nvCxnSpPr>
        <p:spPr>
          <a:xfrm>
            <a:off x="7617150" y="1313275"/>
            <a:ext cx="4260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64" name="Google Shape;464;p64"/>
          <p:cNvCxnSpPr>
            <a:stCxn id="455" idx="2"/>
            <a:endCxn id="456" idx="0"/>
          </p:cNvCxnSpPr>
          <p:nvPr/>
        </p:nvCxnSpPr>
        <p:spPr>
          <a:xfrm>
            <a:off x="6526750" y="1086175"/>
            <a:ext cx="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64"/>
          <p:cNvCxnSpPr>
            <a:stCxn id="460" idx="2"/>
            <a:endCxn id="461" idx="0"/>
          </p:cNvCxnSpPr>
          <p:nvPr/>
        </p:nvCxnSpPr>
        <p:spPr>
          <a:xfrm>
            <a:off x="8270150" y="1086175"/>
            <a:ext cx="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5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Almost-Cycles</a:t>
            </a:r>
            <a:endParaRPr/>
          </a:p>
        </p:txBody>
      </p:sp>
      <p:sp>
        <p:nvSpPr>
          <p:cNvPr id="471" name="Google Shape;471;p65"/>
          <p:cNvSpPr txBox="1"/>
          <p:nvPr>
            <p:ph idx="1" type="body"/>
          </p:nvPr>
        </p:nvSpPr>
        <p:spPr>
          <a:xfrm>
            <a:off x="727650" y="1685150"/>
            <a:ext cx="78939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the previous to work, we don’t actually need exact cycles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What exactly do we want?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Any choice in here, can “hit” all other dominoes in this “almost-cycle”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No matter what choice it 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does this correspond to in our graph model?</a:t>
            </a:r>
            <a:endParaRPr/>
          </a:p>
        </p:txBody>
      </p:sp>
      <p:grpSp>
        <p:nvGrpSpPr>
          <p:cNvPr id="472" name="Google Shape;472;p65"/>
          <p:cNvGrpSpPr/>
          <p:nvPr/>
        </p:nvGrpSpPr>
        <p:grpSpPr>
          <a:xfrm>
            <a:off x="5276450" y="631975"/>
            <a:ext cx="1334300" cy="1362600"/>
            <a:chOff x="3676250" y="631975"/>
            <a:chExt cx="1334300" cy="1362600"/>
          </a:xfrm>
        </p:grpSpPr>
        <p:sp>
          <p:nvSpPr>
            <p:cNvPr id="473" name="Google Shape;473;p65"/>
            <p:cNvSpPr/>
            <p:nvPr/>
          </p:nvSpPr>
          <p:spPr>
            <a:xfrm>
              <a:off x="3676250" y="1086175"/>
              <a:ext cx="454200" cy="4542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A</a:t>
              </a:r>
              <a:endParaRPr/>
            </a:p>
          </p:txBody>
        </p:sp>
        <p:sp>
          <p:nvSpPr>
            <p:cNvPr id="474" name="Google Shape;474;p65"/>
            <p:cNvSpPr/>
            <p:nvPr/>
          </p:nvSpPr>
          <p:spPr>
            <a:xfrm>
              <a:off x="4556350" y="631975"/>
              <a:ext cx="454200" cy="454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B</a:t>
              </a:r>
              <a:endParaRPr/>
            </a:p>
          </p:txBody>
        </p:sp>
        <p:sp>
          <p:nvSpPr>
            <p:cNvPr id="475" name="Google Shape;475;p65"/>
            <p:cNvSpPr/>
            <p:nvPr/>
          </p:nvSpPr>
          <p:spPr>
            <a:xfrm>
              <a:off x="4556350" y="1540375"/>
              <a:ext cx="454200" cy="454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C</a:t>
              </a:r>
              <a:endParaRPr/>
            </a:p>
          </p:txBody>
        </p:sp>
        <p:cxnSp>
          <p:nvCxnSpPr>
            <p:cNvPr id="476" name="Google Shape;476;p65"/>
            <p:cNvCxnSpPr>
              <a:stCxn id="473" idx="3"/>
              <a:endCxn id="474" idx="1"/>
            </p:cNvCxnSpPr>
            <p:nvPr/>
          </p:nvCxnSpPr>
          <p:spPr>
            <a:xfrm flipH="1" rot="10800000">
              <a:off x="4130450" y="859075"/>
              <a:ext cx="426000" cy="45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77" name="Google Shape;477;p65"/>
            <p:cNvCxnSpPr>
              <a:stCxn id="473" idx="3"/>
              <a:endCxn id="475" idx="1"/>
            </p:cNvCxnSpPr>
            <p:nvPr/>
          </p:nvCxnSpPr>
          <p:spPr>
            <a:xfrm>
              <a:off x="4130450" y="1313275"/>
              <a:ext cx="426000" cy="45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78" name="Google Shape;478;p65"/>
            <p:cNvCxnSpPr>
              <a:stCxn id="474" idx="2"/>
              <a:endCxn id="475" idx="0"/>
            </p:cNvCxnSpPr>
            <p:nvPr/>
          </p:nvCxnSpPr>
          <p:spPr>
            <a:xfrm>
              <a:off x="4783450" y="1086175"/>
              <a:ext cx="0" cy="45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79" name="Google Shape;479;p65"/>
          <p:cNvSpPr/>
          <p:nvPr/>
        </p:nvSpPr>
        <p:spPr>
          <a:xfrm>
            <a:off x="7019750" y="1086175"/>
            <a:ext cx="4542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</a:t>
            </a:r>
            <a:endParaRPr/>
          </a:p>
        </p:txBody>
      </p:sp>
      <p:cxnSp>
        <p:nvCxnSpPr>
          <p:cNvPr id="480" name="Google Shape;480;p65"/>
          <p:cNvCxnSpPr>
            <a:stCxn id="474" idx="3"/>
            <a:endCxn id="479" idx="1"/>
          </p:cNvCxnSpPr>
          <p:nvPr/>
        </p:nvCxnSpPr>
        <p:spPr>
          <a:xfrm>
            <a:off x="6610750" y="859075"/>
            <a:ext cx="408900" cy="4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Cycles?</a:t>
            </a:r>
            <a:endParaRPr/>
          </a:p>
        </p:txBody>
      </p:sp>
      <p:sp>
        <p:nvSpPr>
          <p:cNvPr id="486" name="Google Shape;486;p66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✅"/>
            </a:pPr>
            <a:r>
              <a:rPr lang="en-GB"/>
              <a:t>No domino cycles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Find which ones are </a:t>
            </a:r>
            <a:r>
              <a:rPr b="1" lang="en-GB"/>
              <a:t>necessary</a:t>
            </a:r>
            <a:r>
              <a:rPr lang="en-GB"/>
              <a:t>/sufficient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❓"/>
            </a:pPr>
            <a:r>
              <a:rPr lang="en-GB"/>
              <a:t>Some domino cycles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Knock down 1 </a:t>
            </a:r>
            <a:r>
              <a:rPr lang="en-GB" u="sng"/>
              <a:t>representative</a:t>
            </a:r>
            <a:r>
              <a:rPr lang="en-GB"/>
              <a:t> per </a:t>
            </a:r>
            <a:r>
              <a:rPr b="1" lang="en-GB"/>
              <a:t>necessary</a:t>
            </a:r>
            <a:r>
              <a:rPr lang="en-GB"/>
              <a:t> “almost-cycle”?????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✅"/>
            </a:pPr>
            <a:r>
              <a:rPr lang="en-GB"/>
              <a:t>All dominos in separate “almost-cycles”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Knock down </a:t>
            </a:r>
            <a:r>
              <a:rPr lang="en-GB"/>
              <a:t>1 </a:t>
            </a:r>
            <a:r>
              <a:rPr lang="en-GB" u="sng"/>
              <a:t>representative</a:t>
            </a:r>
            <a:r>
              <a:rPr lang="en-GB"/>
              <a:t> per “almost-cycle”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